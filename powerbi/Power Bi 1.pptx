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57" r:id="rId16"/>
    <p:sldId id="258" r:id="rId17"/>
    <p:sldId id="275" r:id="rId18"/>
    <p:sldId id="276" r:id="rId19"/>
    <p:sldId id="277" r:id="rId20"/>
    <p:sldId id="278" r:id="rId21"/>
    <p:sldId id="283" r:id="rId22"/>
    <p:sldId id="284" r:id="rId23"/>
    <p:sldId id="285" r:id="rId24"/>
    <p:sldId id="286" r:id="rId25"/>
    <p:sldId id="287" r:id="rId26"/>
    <p:sldId id="273" r:id="rId27"/>
    <p:sldId id="274" r:id="rId28"/>
    <p:sldId id="279" r:id="rId29"/>
    <p:sldId id="280" r:id="rId30"/>
    <p:sldId id="281" r:id="rId31"/>
    <p:sldId id="282" r:id="rId32"/>
    <p:sldId id="288"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66" d="100"/>
          <a:sy n="66" d="100"/>
        </p:scale>
        <p:origin x="67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ninfosys comapny" userId="9833a2c59e40ea21" providerId="LiveId" clId="{3437CB34-72E5-4FB3-AAC3-1551BAFF3FE1}"/>
    <pc:docChg chg="undo custSel addSld modSld">
      <pc:chgData name="pninfosys comapny" userId="9833a2c59e40ea21" providerId="LiveId" clId="{3437CB34-72E5-4FB3-AAC3-1551BAFF3FE1}" dt="2026-09-29T10:01:03.405" v="43" actId="14100"/>
      <pc:docMkLst>
        <pc:docMk/>
      </pc:docMkLst>
      <pc:sldChg chg="addSp delSp modSp mod">
        <pc:chgData name="pninfosys comapny" userId="9833a2c59e40ea21" providerId="LiveId" clId="{3437CB34-72E5-4FB3-AAC3-1551BAFF3FE1}" dt="2026-09-29T09:50:53.043" v="15"/>
        <pc:sldMkLst>
          <pc:docMk/>
          <pc:sldMk cId="1696083468" sldId="273"/>
        </pc:sldMkLst>
        <pc:spChg chg="mod">
          <ac:chgData name="pninfosys comapny" userId="9833a2c59e40ea21" providerId="LiveId" clId="{3437CB34-72E5-4FB3-AAC3-1551BAFF3FE1}" dt="2026-09-29T09:50:53.043" v="15"/>
          <ac:spMkLst>
            <pc:docMk/>
            <pc:sldMk cId="1696083468" sldId="273"/>
            <ac:spMk id="3" creationId="{C1E0EC20-1620-4DD3-8DD8-ABD752C016EA}"/>
          </ac:spMkLst>
        </pc:spChg>
        <pc:spChg chg="add del">
          <ac:chgData name="pninfosys comapny" userId="9833a2c59e40ea21" providerId="LiveId" clId="{3437CB34-72E5-4FB3-AAC3-1551BAFF3FE1}" dt="2026-09-29T09:50:45.414" v="13"/>
          <ac:spMkLst>
            <pc:docMk/>
            <pc:sldMk cId="1696083468" sldId="273"/>
            <ac:spMk id="5" creationId="{27009DAC-A972-4B28-9EE3-645731344E71}"/>
          </ac:spMkLst>
        </pc:spChg>
        <pc:graphicFrameChg chg="add mod modGraphic">
          <ac:chgData name="pninfosys comapny" userId="9833a2c59e40ea21" providerId="LiveId" clId="{3437CB34-72E5-4FB3-AAC3-1551BAFF3FE1}" dt="2026-09-29T09:50:39.883" v="9" actId="20577"/>
          <ac:graphicFrameMkLst>
            <pc:docMk/>
            <pc:sldMk cId="1696083468" sldId="273"/>
            <ac:graphicFrameMk id="4" creationId="{0ED0A79F-DDEE-47D3-BD13-79CF3EC5C551}"/>
          </ac:graphicFrameMkLst>
        </pc:graphicFrameChg>
      </pc:sldChg>
      <pc:sldChg chg="addSp delSp modSp new mod">
        <pc:chgData name="pninfosys comapny" userId="9833a2c59e40ea21" providerId="LiveId" clId="{3437CB34-72E5-4FB3-AAC3-1551BAFF3FE1}" dt="2026-09-29T10:01:03.405" v="43" actId="14100"/>
        <pc:sldMkLst>
          <pc:docMk/>
          <pc:sldMk cId="4151267052" sldId="274"/>
        </pc:sldMkLst>
        <pc:spChg chg="add del mod">
          <ac:chgData name="pninfosys comapny" userId="9833a2c59e40ea21" providerId="LiveId" clId="{3437CB34-72E5-4FB3-AAC3-1551BAFF3FE1}" dt="2026-09-29T10:01:00.523" v="42" actId="27636"/>
          <ac:spMkLst>
            <pc:docMk/>
            <pc:sldMk cId="4151267052" sldId="274"/>
            <ac:spMk id="2" creationId="{D94D3E51-6674-465F-9EF4-99D84B173D6E}"/>
          </ac:spMkLst>
        </pc:spChg>
        <pc:spChg chg="add del mod">
          <ac:chgData name="pninfosys comapny" userId="9833a2c59e40ea21" providerId="LiveId" clId="{3437CB34-72E5-4FB3-AAC3-1551BAFF3FE1}" dt="2026-09-29T10:01:03.405" v="43" actId="14100"/>
          <ac:spMkLst>
            <pc:docMk/>
            <pc:sldMk cId="4151267052" sldId="274"/>
            <ac:spMk id="3" creationId="{2AA742BE-C53A-4067-AEDA-D3F3BDF35FB1}"/>
          </ac:spMkLst>
        </pc:spChg>
        <pc:spChg chg="add del mod">
          <ac:chgData name="pninfosys comapny" userId="9833a2c59e40ea21" providerId="LiveId" clId="{3437CB34-72E5-4FB3-AAC3-1551BAFF3FE1}" dt="2026-09-29T09:51:24.162" v="23"/>
          <ac:spMkLst>
            <pc:docMk/>
            <pc:sldMk cId="4151267052" sldId="274"/>
            <ac:spMk id="5" creationId="{BA9018B8-93DC-4765-89E0-FB15D0507593}"/>
          </ac:spMkLst>
        </pc:spChg>
        <pc:graphicFrameChg chg="add del mod">
          <ac:chgData name="pninfosys comapny" userId="9833a2c59e40ea21" providerId="LiveId" clId="{3437CB34-72E5-4FB3-AAC3-1551BAFF3FE1}" dt="2026-09-29T09:51:40.661" v="29"/>
          <ac:graphicFrameMkLst>
            <pc:docMk/>
            <pc:sldMk cId="4151267052" sldId="274"/>
            <ac:graphicFrameMk id="4" creationId="{DD3533A5-F7D4-470C-996A-2043697FE2FA}"/>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96C4-DE03-49D1-B0BA-FC40E0F8F0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7A3878F-B9AD-4A58-9756-9D5CA4087B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09EC36A-78AA-4C20-8391-097D707AEF41}"/>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5" name="Footer Placeholder 4">
            <a:extLst>
              <a:ext uri="{FF2B5EF4-FFF2-40B4-BE49-F238E27FC236}">
                <a16:creationId xmlns:a16="http://schemas.microsoft.com/office/drawing/2014/main" id="{0C20BC98-38E7-4C7E-A28D-C4D5DA8625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B27FE7-CFA9-4932-8E9C-42A36541B174}"/>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12345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ECDC1-D744-4805-9A3E-BB9D85B33C5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A227B0-25A9-4824-A516-9C69BA93FD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7E6017-BD58-4F8E-9F2D-AAC2B87B5CE8}"/>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5" name="Footer Placeholder 4">
            <a:extLst>
              <a:ext uri="{FF2B5EF4-FFF2-40B4-BE49-F238E27FC236}">
                <a16:creationId xmlns:a16="http://schemas.microsoft.com/office/drawing/2014/main" id="{A4C3D267-B2AC-47BB-B0F3-BDDB84030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EA0F5-C95C-4D17-818C-261F2DD0777D}"/>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1873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10EAD-B1D0-4682-9B10-8D0605AC81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747FBC2-F03F-454B-B5FE-FB622D9D8F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C538C07-C83C-4DB9-A376-7368C05ECBF4}"/>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5" name="Footer Placeholder 4">
            <a:extLst>
              <a:ext uri="{FF2B5EF4-FFF2-40B4-BE49-F238E27FC236}">
                <a16:creationId xmlns:a16="http://schemas.microsoft.com/office/drawing/2014/main" id="{23FB3A12-8895-4693-8C5E-84F049B9E3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65397-1950-44CF-A336-84D60BF85A88}"/>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146343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96661-F1DB-41F6-91A9-20D8C09A455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2A2DE0B-B047-4474-A367-FF49EE1E1D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EF92680-E2BE-49D3-BB28-AD0105F5090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E08C0FA-253C-41C4-BB2C-66F537CF401B}"/>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6" name="Footer Placeholder 5">
            <a:extLst>
              <a:ext uri="{FF2B5EF4-FFF2-40B4-BE49-F238E27FC236}">
                <a16:creationId xmlns:a16="http://schemas.microsoft.com/office/drawing/2014/main" id="{8EC81DD2-CC8E-43EA-927E-F824162E9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433EB8-A76D-4C34-A7E0-77AC4AABF8C2}"/>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2962085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8DB8-43EE-4144-8FAA-0CEC2DEE0E7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75F7CE-F3A7-46E0-91FC-80490798F7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262E9F-DE39-4D86-B5EB-7C53D1BF0F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DCE42A0-5977-4A03-9231-C1D613B3A7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375736B-0D29-4B38-81D1-4314E026AD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CC3CAEB-D429-46AB-A79A-8EF255C3DC33}"/>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8" name="Footer Placeholder 7">
            <a:extLst>
              <a:ext uri="{FF2B5EF4-FFF2-40B4-BE49-F238E27FC236}">
                <a16:creationId xmlns:a16="http://schemas.microsoft.com/office/drawing/2014/main" id="{7782ED62-3FC7-4F5F-9589-E298E54107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F70F62-A64A-4762-B3C8-02C34837B0DB}"/>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57972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8E187-7831-45A2-9B71-1084C588C50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2B40770-A82E-47E0-BB14-5511B419268A}"/>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4" name="Footer Placeholder 3">
            <a:extLst>
              <a:ext uri="{FF2B5EF4-FFF2-40B4-BE49-F238E27FC236}">
                <a16:creationId xmlns:a16="http://schemas.microsoft.com/office/drawing/2014/main" id="{F598EE33-4114-4B72-938D-9CBEF58B32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F64808-05CD-40C5-8A7D-2D9F3D9E41A8}"/>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783056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3A07E-6B8F-4C34-A23D-B6F22F0F50D3}"/>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3" name="Footer Placeholder 2">
            <a:extLst>
              <a:ext uri="{FF2B5EF4-FFF2-40B4-BE49-F238E27FC236}">
                <a16:creationId xmlns:a16="http://schemas.microsoft.com/office/drawing/2014/main" id="{B9E19875-3CE9-470B-B88A-4794A75111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B2C3FB-74C8-45FC-B7E8-80F766E4F2B9}"/>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16531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B7C87-66DB-4E6F-94C9-A4670E983E1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3E49421-58F7-4421-8CA9-9679B5D03D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59CB33B-DD2F-49F6-B215-93B0FE0BE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A1D4B8-C099-45EB-AECE-BC3B6E9152DE}"/>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6" name="Footer Placeholder 5">
            <a:extLst>
              <a:ext uri="{FF2B5EF4-FFF2-40B4-BE49-F238E27FC236}">
                <a16:creationId xmlns:a16="http://schemas.microsoft.com/office/drawing/2014/main" id="{01381977-49E6-4080-A83E-4420FA81F0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3062CB-8E4C-4697-ADB3-5787CA6A6FA0}"/>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349129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87A0-ECE4-4954-BE00-72B3DD9CB8D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46C4866-BB2B-43D4-B612-A5057C69A0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1C936D-1C79-4603-AB1E-E1AE1AA62A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E14A16F-2801-4868-A9D0-F7F5FAB8E2EC}"/>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6" name="Footer Placeholder 5">
            <a:extLst>
              <a:ext uri="{FF2B5EF4-FFF2-40B4-BE49-F238E27FC236}">
                <a16:creationId xmlns:a16="http://schemas.microsoft.com/office/drawing/2014/main" id="{7D30D247-727B-4B7B-A4A6-E05A32131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8A3E4D-2182-47EE-A004-275862E8B426}"/>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2176063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50F30-8D76-4923-AD8F-9671144AE21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87B4CA-7478-4D4D-8671-F5C86340688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ED28643-900E-4E8F-A59B-A88139E8EBAD}"/>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5" name="Footer Placeholder 4">
            <a:extLst>
              <a:ext uri="{FF2B5EF4-FFF2-40B4-BE49-F238E27FC236}">
                <a16:creationId xmlns:a16="http://schemas.microsoft.com/office/drawing/2014/main" id="{62735589-69FD-4478-97E3-BE225D724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E84E7-3463-4CE5-A5D3-0EB845F2C17A}"/>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1291148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0DF43C-3092-49F9-9567-863F049B224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DC05FAA-C344-451C-925F-6DCF5499F46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13142A-5D27-4368-8559-724DB323C3AC}"/>
              </a:ext>
            </a:extLst>
          </p:cNvPr>
          <p:cNvSpPr>
            <a:spLocks noGrp="1"/>
          </p:cNvSpPr>
          <p:nvPr>
            <p:ph type="dt" sz="half" idx="10"/>
          </p:nvPr>
        </p:nvSpPr>
        <p:spPr/>
        <p:txBody>
          <a:bodyPr/>
          <a:lstStyle/>
          <a:p>
            <a:fld id="{62886EC4-8D4D-4702-A792-DC5483CB43BC}" type="datetimeFigureOut">
              <a:rPr lang="en-US" smtClean="0"/>
              <a:t>10/1/2026</a:t>
            </a:fld>
            <a:endParaRPr lang="en-US"/>
          </a:p>
        </p:txBody>
      </p:sp>
      <p:sp>
        <p:nvSpPr>
          <p:cNvPr id="5" name="Footer Placeholder 4">
            <a:extLst>
              <a:ext uri="{FF2B5EF4-FFF2-40B4-BE49-F238E27FC236}">
                <a16:creationId xmlns:a16="http://schemas.microsoft.com/office/drawing/2014/main" id="{B1936349-4B24-428D-9D81-37374B626C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D8BBD-99AA-4D75-9EC4-554FDEA214D1}"/>
              </a:ext>
            </a:extLst>
          </p:cNvPr>
          <p:cNvSpPr>
            <a:spLocks noGrp="1"/>
          </p:cNvSpPr>
          <p:nvPr>
            <p:ph type="sldNum" sz="quarter" idx="12"/>
          </p:nvPr>
        </p:nvSpPr>
        <p:spPr/>
        <p:txBody>
          <a:bodyPr/>
          <a:lstStyle/>
          <a:p>
            <a:fld id="{947A7CEC-79BC-4AF2-A6B6-2A702CBBE68F}" type="slidenum">
              <a:rPr lang="en-US" smtClean="0"/>
              <a:t>‹#›</a:t>
            </a:fld>
            <a:endParaRPr lang="en-US"/>
          </a:p>
        </p:txBody>
      </p:sp>
    </p:spTree>
    <p:extLst>
      <p:ext uri="{BB962C8B-B14F-4D97-AF65-F5344CB8AC3E}">
        <p14:creationId xmlns:p14="http://schemas.microsoft.com/office/powerpoint/2010/main" val="2861954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8B9626-C53E-47B1-B49E-99D0CED187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2E37B85-D1A2-4DDD-9E69-236520651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213E69-445B-4582-9DCF-C9273869E3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86EC4-8D4D-4702-A792-DC5483CB43BC}" type="datetimeFigureOut">
              <a:rPr lang="en-US" smtClean="0"/>
              <a:t>10/1/2026</a:t>
            </a:fld>
            <a:endParaRPr lang="en-US"/>
          </a:p>
        </p:txBody>
      </p:sp>
      <p:sp>
        <p:nvSpPr>
          <p:cNvPr id="5" name="Footer Placeholder 4">
            <a:extLst>
              <a:ext uri="{FF2B5EF4-FFF2-40B4-BE49-F238E27FC236}">
                <a16:creationId xmlns:a16="http://schemas.microsoft.com/office/drawing/2014/main" id="{8BE0A714-EF26-485B-B0CC-EF3CC95095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355363-9884-431A-8E74-AE71435152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7A7CEC-79BC-4AF2-A6B6-2A702CBBE68F}" type="slidenum">
              <a:rPr lang="en-US" smtClean="0"/>
              <a:t>‹#›</a:t>
            </a:fld>
            <a:endParaRPr lang="en-US"/>
          </a:p>
        </p:txBody>
      </p:sp>
    </p:spTree>
    <p:extLst>
      <p:ext uri="{BB962C8B-B14F-4D97-AF65-F5344CB8AC3E}">
        <p14:creationId xmlns:p14="http://schemas.microsoft.com/office/powerpoint/2010/main" val="18705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2BB98-B0E8-43C9-93F4-2AFD1621AD5F}"/>
              </a:ext>
            </a:extLst>
          </p:cNvPr>
          <p:cNvSpPr>
            <a:spLocks noGrp="1"/>
          </p:cNvSpPr>
          <p:nvPr>
            <p:ph type="ctrTitle"/>
          </p:nvPr>
        </p:nvSpPr>
        <p:spPr/>
        <p:txBody>
          <a:bodyPr/>
          <a:lstStyle/>
          <a:p>
            <a:r>
              <a:rPr lang="en-US" b="1" dirty="0">
                <a:solidFill>
                  <a:srgbClr val="FF0000"/>
                </a:solidFill>
              </a:rPr>
              <a:t>Power Bi</a:t>
            </a:r>
          </a:p>
        </p:txBody>
      </p:sp>
      <p:sp>
        <p:nvSpPr>
          <p:cNvPr id="3" name="Subtitle 2">
            <a:extLst>
              <a:ext uri="{FF2B5EF4-FFF2-40B4-BE49-F238E27FC236}">
                <a16:creationId xmlns:a16="http://schemas.microsoft.com/office/drawing/2014/main" id="{F2EDEBDE-A0DB-4F03-8ED9-0DCAECD1B1B4}"/>
              </a:ext>
            </a:extLst>
          </p:cNvPr>
          <p:cNvSpPr>
            <a:spLocks noGrp="1"/>
          </p:cNvSpPr>
          <p:nvPr>
            <p:ph type="subTitle" idx="1"/>
          </p:nvPr>
        </p:nvSpPr>
        <p:spPr/>
        <p:txBody>
          <a:bodyPr/>
          <a:lstStyle/>
          <a:p>
            <a:r>
              <a:rPr lang="en-US" b="1" dirty="0"/>
              <a:t>Power BI</a:t>
            </a:r>
            <a:r>
              <a:rPr lang="en-US" dirty="0"/>
              <a:t> Microsoft ka </a:t>
            </a:r>
            <a:r>
              <a:rPr lang="en-US" dirty="0" err="1"/>
              <a:t>ek</a:t>
            </a:r>
            <a:r>
              <a:rPr lang="en-US" dirty="0"/>
              <a:t> </a:t>
            </a:r>
            <a:r>
              <a:rPr lang="en-US" b="1" dirty="0"/>
              <a:t>Data Visualization aur Business Intelligence tool</a:t>
            </a:r>
            <a:r>
              <a:rPr lang="en-US" dirty="0"/>
              <a:t> </a:t>
            </a:r>
            <a:r>
              <a:rPr lang="en-US" dirty="0" err="1"/>
              <a:t>hai</a:t>
            </a:r>
            <a:r>
              <a:rPr lang="en-US" dirty="0"/>
              <a:t>.</a:t>
            </a:r>
          </a:p>
        </p:txBody>
      </p:sp>
    </p:spTree>
    <p:extLst>
      <p:ext uri="{BB962C8B-B14F-4D97-AF65-F5344CB8AC3E}">
        <p14:creationId xmlns:p14="http://schemas.microsoft.com/office/powerpoint/2010/main" val="2790741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10AB-7109-4CAD-BFBC-74A170B9AC5C}"/>
              </a:ext>
            </a:extLst>
          </p:cNvPr>
          <p:cNvSpPr>
            <a:spLocks noGrp="1"/>
          </p:cNvSpPr>
          <p:nvPr>
            <p:ph type="title"/>
          </p:nvPr>
        </p:nvSpPr>
        <p:spPr/>
        <p:txBody>
          <a:bodyPr/>
          <a:lstStyle/>
          <a:p>
            <a:r>
              <a:rPr lang="en-US" b="1" dirty="0">
                <a:solidFill>
                  <a:srgbClr val="FF0000"/>
                </a:solidFill>
              </a:rPr>
              <a:t>Power bi</a:t>
            </a:r>
          </a:p>
        </p:txBody>
      </p:sp>
      <p:sp>
        <p:nvSpPr>
          <p:cNvPr id="3" name="Content Placeholder 2">
            <a:extLst>
              <a:ext uri="{FF2B5EF4-FFF2-40B4-BE49-F238E27FC236}">
                <a16:creationId xmlns:a16="http://schemas.microsoft.com/office/drawing/2014/main" id="{A5252B0B-04F6-49C1-BFEE-4B3288373ADC}"/>
              </a:ext>
            </a:extLst>
          </p:cNvPr>
          <p:cNvSpPr>
            <a:spLocks noGrp="1"/>
          </p:cNvSpPr>
          <p:nvPr>
            <p:ph idx="1"/>
          </p:nvPr>
        </p:nvSpPr>
        <p:spPr/>
        <p:txBody>
          <a:bodyPr/>
          <a:lstStyle/>
          <a:p>
            <a:r>
              <a:rPr lang="en-US" dirty="0"/>
              <a:t>Power BI is a data visualization and business analytics tool developed by Microsoft. It allows users to connect to various data sources like Excel, SQL, or cloud services, clean and transform the data, and then create charts, graphs, and dashboards. These insights help businesses make better decisions.</a:t>
            </a:r>
          </a:p>
          <a:p>
            <a:endParaRPr lang="en-US" dirty="0"/>
          </a:p>
        </p:txBody>
      </p:sp>
    </p:spTree>
    <p:extLst>
      <p:ext uri="{BB962C8B-B14F-4D97-AF65-F5344CB8AC3E}">
        <p14:creationId xmlns:p14="http://schemas.microsoft.com/office/powerpoint/2010/main" val="126567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FD0FE8-FAED-4BEE-9C56-6E0300D21481}"/>
              </a:ext>
            </a:extLst>
          </p:cNvPr>
          <p:cNvSpPr>
            <a:spLocks noGrp="1"/>
          </p:cNvSpPr>
          <p:nvPr>
            <p:ph idx="1"/>
          </p:nvPr>
        </p:nvSpPr>
        <p:spPr>
          <a:xfrm>
            <a:off x="630455" y="380198"/>
            <a:ext cx="10723345" cy="5796765"/>
          </a:xfrm>
        </p:spPr>
        <p:txBody>
          <a:bodyPr/>
          <a:lstStyle/>
          <a:p>
            <a:r>
              <a:rPr lang="en-US" dirty="0"/>
              <a:t>Power BI Microsoft </a:t>
            </a:r>
            <a:r>
              <a:rPr lang="hi-IN" dirty="0"/>
              <a:t>का एक </a:t>
            </a:r>
            <a:r>
              <a:rPr lang="en-US" dirty="0"/>
              <a:t>Business Intelligence </a:t>
            </a:r>
            <a:r>
              <a:rPr lang="hi-IN" dirty="0"/>
              <a:t>टूल है, जो अलग–अलग </a:t>
            </a:r>
            <a:r>
              <a:rPr lang="en-US" dirty="0"/>
              <a:t>sources </a:t>
            </a:r>
            <a:r>
              <a:rPr lang="hi-IN" dirty="0"/>
              <a:t>से </a:t>
            </a:r>
            <a:r>
              <a:rPr lang="en-US" dirty="0"/>
              <a:t>data </a:t>
            </a:r>
            <a:r>
              <a:rPr lang="hi-IN" dirty="0"/>
              <a:t>लेकर उसे </a:t>
            </a:r>
            <a:r>
              <a:rPr lang="en-US" dirty="0"/>
              <a:t>analyze </a:t>
            </a:r>
            <a:r>
              <a:rPr lang="hi-IN" dirty="0"/>
              <a:t>करता है और </a:t>
            </a:r>
            <a:r>
              <a:rPr lang="en-US" dirty="0"/>
              <a:t>interactive reports </a:t>
            </a:r>
            <a:r>
              <a:rPr lang="hi-IN" dirty="0"/>
              <a:t>व </a:t>
            </a:r>
            <a:r>
              <a:rPr lang="en-US" dirty="0"/>
              <a:t>dashboards </a:t>
            </a:r>
            <a:r>
              <a:rPr lang="hi-IN" dirty="0"/>
              <a:t>बनाने में मदद करता है।</a:t>
            </a:r>
            <a:endParaRPr lang="en-US" dirty="0"/>
          </a:p>
          <a:p>
            <a:endParaRPr lang="en-US" dirty="0"/>
          </a:p>
          <a:p>
            <a:r>
              <a:rPr lang="en-US" dirty="0"/>
              <a:t>Power BI </a:t>
            </a:r>
            <a:r>
              <a:rPr lang="hi-IN" dirty="0"/>
              <a:t>एक </a:t>
            </a:r>
            <a:r>
              <a:rPr lang="en-US" dirty="0"/>
              <a:t>data visualization </a:t>
            </a:r>
            <a:r>
              <a:rPr lang="hi-IN" dirty="0"/>
              <a:t>और </a:t>
            </a:r>
            <a:r>
              <a:rPr lang="en-US" dirty="0"/>
              <a:t>business analytics tool </a:t>
            </a:r>
            <a:r>
              <a:rPr lang="hi-IN" dirty="0"/>
              <a:t>है। इसके जरिए हम </a:t>
            </a:r>
            <a:r>
              <a:rPr lang="en-US" dirty="0"/>
              <a:t>Excel, SQL, MySQL, PostgreSQL </a:t>
            </a:r>
            <a:r>
              <a:rPr lang="hi-IN" dirty="0"/>
              <a:t>और </a:t>
            </a:r>
            <a:r>
              <a:rPr lang="en-US" dirty="0"/>
              <a:t>cloud services </a:t>
            </a:r>
            <a:r>
              <a:rPr lang="hi-IN" dirty="0"/>
              <a:t>से </a:t>
            </a:r>
            <a:r>
              <a:rPr lang="en-US" dirty="0"/>
              <a:t>data connect </a:t>
            </a:r>
            <a:r>
              <a:rPr lang="hi-IN" dirty="0"/>
              <a:t>कर सकते हैं। फिर </a:t>
            </a:r>
            <a:r>
              <a:rPr lang="en-US" dirty="0"/>
              <a:t>data </a:t>
            </a:r>
            <a:r>
              <a:rPr lang="hi-IN" dirty="0"/>
              <a:t>को </a:t>
            </a:r>
            <a:r>
              <a:rPr lang="en-US" dirty="0"/>
              <a:t>clean </a:t>
            </a:r>
            <a:r>
              <a:rPr lang="hi-IN" dirty="0"/>
              <a:t>व </a:t>
            </a:r>
            <a:r>
              <a:rPr lang="en-US" dirty="0"/>
              <a:t>transform </a:t>
            </a:r>
            <a:r>
              <a:rPr lang="hi-IN" dirty="0"/>
              <a:t>करके </a:t>
            </a:r>
            <a:r>
              <a:rPr lang="en-US" dirty="0"/>
              <a:t>charts, graphs </a:t>
            </a:r>
            <a:r>
              <a:rPr lang="hi-IN" dirty="0"/>
              <a:t>और </a:t>
            </a:r>
            <a:r>
              <a:rPr lang="en-US" dirty="0"/>
              <a:t>dashboards </a:t>
            </a:r>
            <a:r>
              <a:rPr lang="hi-IN" dirty="0"/>
              <a:t>बना सकते हैं, जिससे </a:t>
            </a:r>
            <a:r>
              <a:rPr lang="en-US" dirty="0"/>
              <a:t>business decisions </a:t>
            </a:r>
            <a:r>
              <a:rPr lang="hi-IN" dirty="0"/>
              <a:t>लेना आसान हो जाता है।</a:t>
            </a:r>
            <a:endParaRPr lang="en-US" dirty="0"/>
          </a:p>
          <a:p>
            <a:endParaRPr lang="en-US" dirty="0"/>
          </a:p>
        </p:txBody>
      </p:sp>
    </p:spTree>
    <p:extLst>
      <p:ext uri="{BB962C8B-B14F-4D97-AF65-F5344CB8AC3E}">
        <p14:creationId xmlns:p14="http://schemas.microsoft.com/office/powerpoint/2010/main" val="169582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6001-CBCC-4575-8454-693C4AE91C47}"/>
              </a:ext>
            </a:extLst>
          </p:cNvPr>
          <p:cNvSpPr>
            <a:spLocks noGrp="1"/>
          </p:cNvSpPr>
          <p:nvPr>
            <p:ph type="title"/>
          </p:nvPr>
        </p:nvSpPr>
        <p:spPr/>
        <p:txBody>
          <a:bodyPr/>
          <a:lstStyle/>
          <a:p>
            <a:r>
              <a:rPr lang="en-US" b="1" dirty="0">
                <a:solidFill>
                  <a:srgbClr val="FF0000"/>
                </a:solidFill>
              </a:rPr>
              <a:t>Power BI </a:t>
            </a:r>
            <a:r>
              <a:rPr lang="en-US" b="1" dirty="0" err="1">
                <a:solidFill>
                  <a:srgbClr val="FF0000"/>
                </a:solidFill>
              </a:rPr>
              <a:t>kya</a:t>
            </a:r>
            <a:r>
              <a:rPr lang="en-US" b="1" dirty="0">
                <a:solidFill>
                  <a:srgbClr val="FF0000"/>
                </a:solidFill>
              </a:rPr>
              <a:t> </a:t>
            </a:r>
            <a:r>
              <a:rPr lang="en-US" b="1" dirty="0" err="1">
                <a:solidFill>
                  <a:srgbClr val="FF0000"/>
                </a:solidFill>
              </a:rPr>
              <a:t>hai</a:t>
            </a:r>
            <a:r>
              <a:rPr lang="en-US" b="1" dirty="0">
                <a:solidFill>
                  <a:srgbClr val="FF0000"/>
                </a:solidFill>
              </a:rPr>
              <a:t>?</a:t>
            </a:r>
          </a:p>
        </p:txBody>
      </p:sp>
      <p:sp>
        <p:nvSpPr>
          <p:cNvPr id="3" name="Content Placeholder 2">
            <a:extLst>
              <a:ext uri="{FF2B5EF4-FFF2-40B4-BE49-F238E27FC236}">
                <a16:creationId xmlns:a16="http://schemas.microsoft.com/office/drawing/2014/main" id="{4D219F62-6EB0-4579-9AD2-D4C067BBD030}"/>
              </a:ext>
            </a:extLst>
          </p:cNvPr>
          <p:cNvSpPr>
            <a:spLocks noGrp="1"/>
          </p:cNvSpPr>
          <p:nvPr>
            <p:ph idx="1"/>
          </p:nvPr>
        </p:nvSpPr>
        <p:spPr/>
        <p:txBody>
          <a:bodyPr/>
          <a:lstStyle/>
          <a:p>
            <a:r>
              <a:rPr lang="en-US" dirty="0"/>
              <a:t>Power BI Microsoft ka </a:t>
            </a:r>
            <a:r>
              <a:rPr lang="en-US" dirty="0" err="1"/>
              <a:t>ek</a:t>
            </a:r>
            <a:r>
              <a:rPr lang="en-US" dirty="0"/>
              <a:t> Business Intelligence aur data visualization tool </a:t>
            </a:r>
            <a:r>
              <a:rPr lang="en-US" dirty="0" err="1"/>
              <a:t>hai</a:t>
            </a:r>
            <a:r>
              <a:rPr lang="en-US" dirty="0"/>
              <a:t>, </a:t>
            </a:r>
            <a:r>
              <a:rPr lang="en-US" dirty="0" err="1"/>
              <a:t>jisse</a:t>
            </a:r>
            <a:r>
              <a:rPr lang="en-US" dirty="0"/>
              <a:t> hum data ko analyze </a:t>
            </a:r>
            <a:r>
              <a:rPr lang="en-US" dirty="0" err="1"/>
              <a:t>karke</a:t>
            </a:r>
            <a:r>
              <a:rPr lang="en-US" dirty="0"/>
              <a:t> interactive reports aur dashboards </a:t>
            </a:r>
            <a:r>
              <a:rPr lang="en-US" dirty="0" err="1"/>
              <a:t>bana</a:t>
            </a:r>
            <a:r>
              <a:rPr lang="en-US" dirty="0"/>
              <a:t> </a:t>
            </a:r>
            <a:r>
              <a:rPr lang="en-US" dirty="0" err="1"/>
              <a:t>sakte</a:t>
            </a:r>
            <a:r>
              <a:rPr lang="en-US" dirty="0"/>
              <a:t> </a:t>
            </a:r>
            <a:r>
              <a:rPr lang="en-US" dirty="0" err="1"/>
              <a:t>hain</a:t>
            </a:r>
            <a:r>
              <a:rPr lang="en-US" dirty="0"/>
              <a:t>.</a:t>
            </a:r>
          </a:p>
          <a:p>
            <a:endParaRPr lang="en-US" dirty="0"/>
          </a:p>
        </p:txBody>
      </p:sp>
    </p:spTree>
    <p:extLst>
      <p:ext uri="{BB962C8B-B14F-4D97-AF65-F5344CB8AC3E}">
        <p14:creationId xmlns:p14="http://schemas.microsoft.com/office/powerpoint/2010/main" val="2661227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F9A1-1E15-4970-9C75-4DE3C35C7E83}"/>
              </a:ext>
            </a:extLst>
          </p:cNvPr>
          <p:cNvSpPr>
            <a:spLocks noGrp="1"/>
          </p:cNvSpPr>
          <p:nvPr>
            <p:ph type="title"/>
          </p:nvPr>
        </p:nvSpPr>
        <p:spPr/>
        <p:txBody>
          <a:bodyPr/>
          <a:lstStyle/>
          <a:p>
            <a:r>
              <a:rPr lang="en-US" b="1" dirty="0">
                <a:solidFill>
                  <a:srgbClr val="FF0000"/>
                </a:solidFill>
              </a:rPr>
              <a:t>Power BI kin-kin data sources se connect ho </a:t>
            </a:r>
            <a:r>
              <a:rPr lang="en-US" b="1" dirty="0" err="1">
                <a:solidFill>
                  <a:srgbClr val="FF0000"/>
                </a:solidFill>
              </a:rPr>
              <a:t>sakta</a:t>
            </a:r>
            <a:r>
              <a:rPr lang="en-US" b="1" dirty="0">
                <a:solidFill>
                  <a:srgbClr val="FF0000"/>
                </a:solidFill>
              </a:rPr>
              <a:t> </a:t>
            </a:r>
            <a:r>
              <a:rPr lang="en-US" b="1" dirty="0" err="1">
                <a:solidFill>
                  <a:srgbClr val="FF0000"/>
                </a:solidFill>
              </a:rPr>
              <a:t>hai</a:t>
            </a:r>
            <a:r>
              <a:rPr lang="en-US" b="1" dirty="0">
                <a:solidFill>
                  <a:srgbClr val="FF0000"/>
                </a:solidFill>
              </a:rPr>
              <a:t>?</a:t>
            </a:r>
          </a:p>
        </p:txBody>
      </p:sp>
      <p:sp>
        <p:nvSpPr>
          <p:cNvPr id="3" name="Content Placeholder 2">
            <a:extLst>
              <a:ext uri="{FF2B5EF4-FFF2-40B4-BE49-F238E27FC236}">
                <a16:creationId xmlns:a16="http://schemas.microsoft.com/office/drawing/2014/main" id="{B2D0645F-7BA9-49F3-BF6D-EB50FD3B611D}"/>
              </a:ext>
            </a:extLst>
          </p:cNvPr>
          <p:cNvSpPr>
            <a:spLocks noGrp="1"/>
          </p:cNvSpPr>
          <p:nvPr>
            <p:ph idx="1"/>
          </p:nvPr>
        </p:nvSpPr>
        <p:spPr/>
        <p:txBody>
          <a:bodyPr/>
          <a:lstStyle/>
          <a:p>
            <a:r>
              <a:rPr lang="en-US" dirty="0"/>
              <a:t>Power BI Excel, SQL Server, MySQL, PostgreSQL, Oracle, Cloud services (Azure, Google Analytics), CSV files aur APIs se connect ho </a:t>
            </a:r>
            <a:r>
              <a:rPr lang="en-US" dirty="0" err="1"/>
              <a:t>sakta</a:t>
            </a:r>
            <a:r>
              <a:rPr lang="en-US" dirty="0"/>
              <a:t> </a:t>
            </a:r>
            <a:r>
              <a:rPr lang="en-US" dirty="0" err="1"/>
              <a:t>hai</a:t>
            </a:r>
            <a:r>
              <a:rPr lang="en-US" dirty="0"/>
              <a:t>.</a:t>
            </a:r>
          </a:p>
          <a:p>
            <a:endParaRPr lang="en-US" dirty="0"/>
          </a:p>
        </p:txBody>
      </p:sp>
    </p:spTree>
    <p:extLst>
      <p:ext uri="{BB962C8B-B14F-4D97-AF65-F5344CB8AC3E}">
        <p14:creationId xmlns:p14="http://schemas.microsoft.com/office/powerpoint/2010/main" val="2459799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A94F8-603B-46B1-802A-CED8ED5984DC}"/>
              </a:ext>
            </a:extLst>
          </p:cNvPr>
          <p:cNvSpPr>
            <a:spLocks noGrp="1"/>
          </p:cNvSpPr>
          <p:nvPr>
            <p:ph type="title"/>
          </p:nvPr>
        </p:nvSpPr>
        <p:spPr/>
        <p:txBody>
          <a:bodyPr/>
          <a:lstStyle/>
          <a:p>
            <a:r>
              <a:rPr lang="en-US" b="1" dirty="0">
                <a:solidFill>
                  <a:srgbClr val="FF0000"/>
                </a:solidFill>
              </a:rPr>
              <a:t>Power BI </a:t>
            </a:r>
            <a:r>
              <a:rPr lang="en-US" b="1" dirty="0" err="1">
                <a:solidFill>
                  <a:srgbClr val="FF0000"/>
                </a:solidFill>
              </a:rPr>
              <a:t>ke</a:t>
            </a:r>
            <a:r>
              <a:rPr lang="en-US" b="1" dirty="0">
                <a:solidFill>
                  <a:srgbClr val="FF0000"/>
                </a:solidFill>
              </a:rPr>
              <a:t> main components </a:t>
            </a:r>
            <a:r>
              <a:rPr lang="en-US" b="1" dirty="0" err="1">
                <a:solidFill>
                  <a:srgbClr val="FF0000"/>
                </a:solidFill>
              </a:rPr>
              <a:t>kaun</a:t>
            </a:r>
            <a:r>
              <a:rPr lang="en-US" b="1" dirty="0">
                <a:solidFill>
                  <a:srgbClr val="FF0000"/>
                </a:solidFill>
              </a:rPr>
              <a:t> se </a:t>
            </a:r>
            <a:r>
              <a:rPr lang="en-US" b="1" dirty="0" err="1">
                <a:solidFill>
                  <a:srgbClr val="FF0000"/>
                </a:solidFill>
              </a:rPr>
              <a:t>hain</a:t>
            </a:r>
            <a:r>
              <a:rPr lang="en-US" b="1" dirty="0">
                <a:solidFill>
                  <a:srgbClr val="FF0000"/>
                </a:solidFill>
              </a:rPr>
              <a:t>?</a:t>
            </a:r>
          </a:p>
        </p:txBody>
      </p:sp>
      <p:sp>
        <p:nvSpPr>
          <p:cNvPr id="3" name="Content Placeholder 2">
            <a:extLst>
              <a:ext uri="{FF2B5EF4-FFF2-40B4-BE49-F238E27FC236}">
                <a16:creationId xmlns:a16="http://schemas.microsoft.com/office/drawing/2014/main" id="{DAC7ECCA-9336-4B36-8B3F-1650956BC4E8}"/>
              </a:ext>
            </a:extLst>
          </p:cNvPr>
          <p:cNvSpPr>
            <a:spLocks noGrp="1"/>
          </p:cNvSpPr>
          <p:nvPr>
            <p:ph idx="1"/>
          </p:nvPr>
        </p:nvSpPr>
        <p:spPr/>
        <p:txBody>
          <a:bodyPr/>
          <a:lstStyle/>
          <a:p>
            <a:r>
              <a:rPr lang="en-US" b="1" dirty="0"/>
              <a:t>Power Query</a:t>
            </a:r>
            <a:r>
              <a:rPr lang="en-US" dirty="0"/>
              <a:t> → Data cleaning or transformation </a:t>
            </a:r>
            <a:r>
              <a:rPr lang="en-US" dirty="0" err="1"/>
              <a:t>ke</a:t>
            </a:r>
            <a:r>
              <a:rPr lang="en-US" dirty="0"/>
              <a:t> </a:t>
            </a:r>
            <a:r>
              <a:rPr lang="en-US" dirty="0" err="1"/>
              <a:t>liye</a:t>
            </a:r>
            <a:endParaRPr lang="en-US" dirty="0"/>
          </a:p>
          <a:p>
            <a:r>
              <a:rPr lang="en-US" b="1" dirty="0"/>
              <a:t>Power Pivot</a:t>
            </a:r>
            <a:r>
              <a:rPr lang="en-US" dirty="0"/>
              <a:t> → Data modeling or calculations </a:t>
            </a:r>
            <a:r>
              <a:rPr lang="en-US" dirty="0" err="1"/>
              <a:t>ke</a:t>
            </a:r>
            <a:r>
              <a:rPr lang="en-US" dirty="0"/>
              <a:t> </a:t>
            </a:r>
            <a:r>
              <a:rPr lang="en-US" dirty="0" err="1"/>
              <a:t>liye</a:t>
            </a:r>
            <a:endParaRPr lang="en-US" dirty="0"/>
          </a:p>
          <a:p>
            <a:r>
              <a:rPr lang="en-US" b="1" dirty="0"/>
              <a:t>Power View &amp; Power Map</a:t>
            </a:r>
            <a:r>
              <a:rPr lang="en-US" dirty="0"/>
              <a:t> → Data visualization </a:t>
            </a:r>
            <a:r>
              <a:rPr lang="en-US" dirty="0" err="1"/>
              <a:t>ke</a:t>
            </a:r>
            <a:r>
              <a:rPr lang="en-US" dirty="0"/>
              <a:t> </a:t>
            </a:r>
            <a:r>
              <a:rPr lang="en-US" dirty="0" err="1"/>
              <a:t>liye</a:t>
            </a:r>
            <a:endParaRPr lang="en-US" dirty="0"/>
          </a:p>
          <a:p>
            <a:r>
              <a:rPr lang="en-US" b="1" dirty="0"/>
              <a:t>Power BI Service</a:t>
            </a:r>
            <a:r>
              <a:rPr lang="en-US" dirty="0"/>
              <a:t> → Reports ko publish aur share </a:t>
            </a:r>
            <a:r>
              <a:rPr lang="en-US" dirty="0" err="1"/>
              <a:t>karne</a:t>
            </a:r>
            <a:r>
              <a:rPr lang="en-US" dirty="0"/>
              <a:t> </a:t>
            </a:r>
            <a:r>
              <a:rPr lang="en-US" dirty="0" err="1"/>
              <a:t>ke</a:t>
            </a:r>
            <a:r>
              <a:rPr lang="en-US" dirty="0"/>
              <a:t> </a:t>
            </a:r>
            <a:r>
              <a:rPr lang="en-US" dirty="0" err="1"/>
              <a:t>liye</a:t>
            </a:r>
            <a:endParaRPr lang="en-US" dirty="0"/>
          </a:p>
          <a:p>
            <a:endParaRPr lang="en-US" dirty="0"/>
          </a:p>
        </p:txBody>
      </p:sp>
    </p:spTree>
    <p:extLst>
      <p:ext uri="{BB962C8B-B14F-4D97-AF65-F5344CB8AC3E}">
        <p14:creationId xmlns:p14="http://schemas.microsoft.com/office/powerpoint/2010/main" val="2849468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C215-4AE7-42CC-AAAA-BC53D2BF16F4}"/>
              </a:ext>
            </a:extLst>
          </p:cNvPr>
          <p:cNvSpPr>
            <a:spLocks noGrp="1"/>
          </p:cNvSpPr>
          <p:nvPr>
            <p:ph type="title"/>
          </p:nvPr>
        </p:nvSpPr>
        <p:spPr/>
        <p:txBody>
          <a:bodyPr/>
          <a:lstStyle/>
          <a:p>
            <a:r>
              <a:rPr lang="en-US" b="1" dirty="0">
                <a:solidFill>
                  <a:srgbClr val="FF0000"/>
                </a:solidFill>
              </a:rPr>
              <a:t>Power BI </a:t>
            </a:r>
            <a:r>
              <a:rPr lang="en-US" b="1" dirty="0" err="1">
                <a:solidFill>
                  <a:srgbClr val="FF0000"/>
                </a:solidFill>
              </a:rPr>
              <a:t>ke</a:t>
            </a:r>
            <a:r>
              <a:rPr lang="en-US" b="1" dirty="0">
                <a:solidFill>
                  <a:srgbClr val="FF0000"/>
                </a:solidFill>
              </a:rPr>
              <a:t> benefits </a:t>
            </a:r>
            <a:r>
              <a:rPr lang="en-US" b="1" dirty="0" err="1">
                <a:solidFill>
                  <a:srgbClr val="FF0000"/>
                </a:solidFill>
              </a:rPr>
              <a:t>kya</a:t>
            </a:r>
            <a:r>
              <a:rPr lang="en-US" b="1" dirty="0">
                <a:solidFill>
                  <a:srgbClr val="FF0000"/>
                </a:solidFill>
              </a:rPr>
              <a:t> </a:t>
            </a:r>
            <a:r>
              <a:rPr lang="en-US" b="1" dirty="0" err="1">
                <a:solidFill>
                  <a:srgbClr val="FF0000"/>
                </a:solidFill>
              </a:rPr>
              <a:t>hain</a:t>
            </a:r>
            <a:r>
              <a:rPr lang="en-US" b="1" dirty="0">
                <a:solidFill>
                  <a:srgbClr val="FF0000"/>
                </a:solidFill>
              </a:rPr>
              <a:t>?</a:t>
            </a:r>
          </a:p>
        </p:txBody>
      </p:sp>
      <p:sp>
        <p:nvSpPr>
          <p:cNvPr id="3" name="Content Placeholder 2">
            <a:extLst>
              <a:ext uri="{FF2B5EF4-FFF2-40B4-BE49-F238E27FC236}">
                <a16:creationId xmlns:a16="http://schemas.microsoft.com/office/drawing/2014/main" id="{B91FE13E-7FAB-4BF7-942D-C77910A14E71}"/>
              </a:ext>
            </a:extLst>
          </p:cNvPr>
          <p:cNvSpPr>
            <a:spLocks noGrp="1"/>
          </p:cNvSpPr>
          <p:nvPr>
            <p:ph idx="1"/>
          </p:nvPr>
        </p:nvSpPr>
        <p:spPr/>
        <p:txBody>
          <a:bodyPr/>
          <a:lstStyle/>
          <a:p>
            <a:r>
              <a:rPr lang="en-US" dirty="0"/>
              <a:t>Easy to use (Drag &amp; Drop interface)</a:t>
            </a:r>
          </a:p>
          <a:p>
            <a:r>
              <a:rPr lang="en-US" dirty="0"/>
              <a:t>Multiple data sources connect </a:t>
            </a:r>
            <a:r>
              <a:rPr lang="en-US" dirty="0" err="1"/>
              <a:t>kar</a:t>
            </a:r>
            <a:r>
              <a:rPr lang="en-US" dirty="0"/>
              <a:t> </a:t>
            </a:r>
            <a:r>
              <a:rPr lang="en-US" dirty="0" err="1"/>
              <a:t>sakta</a:t>
            </a:r>
            <a:r>
              <a:rPr lang="en-US" dirty="0"/>
              <a:t> </a:t>
            </a:r>
            <a:r>
              <a:rPr lang="en-US" dirty="0" err="1"/>
              <a:t>hai</a:t>
            </a:r>
            <a:endParaRPr lang="en-US" dirty="0"/>
          </a:p>
          <a:p>
            <a:r>
              <a:rPr lang="en-US" dirty="0"/>
              <a:t>Real-time dashboards available </a:t>
            </a:r>
            <a:r>
              <a:rPr lang="en-US" dirty="0" err="1"/>
              <a:t>hain</a:t>
            </a:r>
            <a:endParaRPr lang="en-US" dirty="0"/>
          </a:p>
          <a:p>
            <a:r>
              <a:rPr lang="en-US" dirty="0"/>
              <a:t>Reports ko easily share </a:t>
            </a:r>
            <a:r>
              <a:rPr lang="en-US" dirty="0" err="1"/>
              <a:t>kar</a:t>
            </a:r>
            <a:r>
              <a:rPr lang="en-US" dirty="0"/>
              <a:t> </a:t>
            </a:r>
            <a:r>
              <a:rPr lang="en-US" dirty="0" err="1"/>
              <a:t>sakte</a:t>
            </a:r>
            <a:r>
              <a:rPr lang="en-US" dirty="0"/>
              <a:t> </a:t>
            </a:r>
            <a:r>
              <a:rPr lang="en-US" dirty="0" err="1"/>
              <a:t>hain</a:t>
            </a:r>
            <a:endParaRPr lang="en-US" dirty="0"/>
          </a:p>
          <a:p>
            <a:r>
              <a:rPr lang="en-US" dirty="0"/>
              <a:t>Cost-effective </a:t>
            </a:r>
            <a:r>
              <a:rPr lang="en-US" dirty="0" err="1"/>
              <a:t>hai</a:t>
            </a:r>
            <a:r>
              <a:rPr lang="en-US" dirty="0"/>
              <a:t> aur market me high demand </a:t>
            </a:r>
            <a:r>
              <a:rPr lang="en-US" dirty="0" err="1"/>
              <a:t>hai</a:t>
            </a:r>
            <a:endParaRPr lang="en-US" dirty="0"/>
          </a:p>
          <a:p>
            <a:endParaRPr lang="en-US" dirty="0"/>
          </a:p>
        </p:txBody>
      </p:sp>
    </p:spTree>
    <p:extLst>
      <p:ext uri="{BB962C8B-B14F-4D97-AF65-F5344CB8AC3E}">
        <p14:creationId xmlns:p14="http://schemas.microsoft.com/office/powerpoint/2010/main" val="245847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3066-0B25-488D-A639-EED35504AC3F}"/>
              </a:ext>
            </a:extLst>
          </p:cNvPr>
          <p:cNvSpPr>
            <a:spLocks noGrp="1"/>
          </p:cNvSpPr>
          <p:nvPr>
            <p:ph type="title"/>
          </p:nvPr>
        </p:nvSpPr>
        <p:spPr/>
        <p:txBody>
          <a:bodyPr/>
          <a:lstStyle/>
          <a:p>
            <a:r>
              <a:rPr lang="en-US" b="1" dirty="0">
                <a:solidFill>
                  <a:srgbClr val="FF0000"/>
                </a:solidFill>
              </a:rPr>
              <a:t>Power BI aur Excel me </a:t>
            </a:r>
            <a:r>
              <a:rPr lang="en-US" b="1" dirty="0" err="1">
                <a:solidFill>
                  <a:srgbClr val="FF0000"/>
                </a:solidFill>
              </a:rPr>
              <a:t>kya</a:t>
            </a:r>
            <a:r>
              <a:rPr lang="en-US" b="1" dirty="0">
                <a:solidFill>
                  <a:srgbClr val="FF0000"/>
                </a:solidFill>
              </a:rPr>
              <a:t> difference </a:t>
            </a:r>
            <a:r>
              <a:rPr lang="en-US" b="1" dirty="0" err="1">
                <a:solidFill>
                  <a:srgbClr val="FF0000"/>
                </a:solidFill>
              </a:rPr>
              <a:t>hai</a:t>
            </a:r>
            <a:r>
              <a:rPr lang="en-US" b="1" dirty="0">
                <a:solidFill>
                  <a:srgbClr val="FF0000"/>
                </a:solidFill>
              </a:rPr>
              <a:t>?</a:t>
            </a:r>
          </a:p>
        </p:txBody>
      </p:sp>
      <p:sp>
        <p:nvSpPr>
          <p:cNvPr id="3" name="Content Placeholder 2">
            <a:extLst>
              <a:ext uri="{FF2B5EF4-FFF2-40B4-BE49-F238E27FC236}">
                <a16:creationId xmlns:a16="http://schemas.microsoft.com/office/drawing/2014/main" id="{F0A5C43F-5B86-4AF6-A0B0-E0475B750334}"/>
              </a:ext>
            </a:extLst>
          </p:cNvPr>
          <p:cNvSpPr>
            <a:spLocks noGrp="1"/>
          </p:cNvSpPr>
          <p:nvPr>
            <p:ph idx="1"/>
          </p:nvPr>
        </p:nvSpPr>
        <p:spPr/>
        <p:txBody>
          <a:bodyPr/>
          <a:lstStyle/>
          <a:p>
            <a:r>
              <a:rPr lang="en-US" dirty="0"/>
              <a:t>Excel mainly basic analysis aur reporting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 </a:t>
            </a:r>
            <a:r>
              <a:rPr lang="en-US" dirty="0" err="1"/>
              <a:t>jabki</a:t>
            </a:r>
            <a:r>
              <a:rPr lang="en-US" dirty="0"/>
              <a:t> Power BI advanced visualization, automation, real-time dashboards aur large data sets handle </a:t>
            </a:r>
            <a:r>
              <a:rPr lang="en-US" dirty="0" err="1"/>
              <a:t>karne</a:t>
            </a:r>
            <a:r>
              <a:rPr lang="en-US" dirty="0"/>
              <a:t>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a:t>
            </a:r>
          </a:p>
          <a:p>
            <a:r>
              <a:rPr lang="en-US" b="1" dirty="0"/>
              <a:t>"Power BI </a:t>
            </a:r>
            <a:r>
              <a:rPr lang="en-US" b="1" dirty="0" err="1"/>
              <a:t>ek</a:t>
            </a:r>
            <a:r>
              <a:rPr lang="en-US" b="1" dirty="0"/>
              <a:t> tool </a:t>
            </a:r>
            <a:r>
              <a:rPr lang="en-US" b="1" dirty="0" err="1"/>
              <a:t>hai</a:t>
            </a:r>
            <a:r>
              <a:rPr lang="en-US" b="1" dirty="0"/>
              <a:t> jo raw data ko meaningful dashboards aur reports me convert </a:t>
            </a:r>
            <a:r>
              <a:rPr lang="en-US" b="1" dirty="0" err="1"/>
              <a:t>karta</a:t>
            </a:r>
            <a:r>
              <a:rPr lang="en-US" b="1" dirty="0"/>
              <a:t> </a:t>
            </a:r>
            <a:r>
              <a:rPr lang="en-US" b="1" dirty="0" err="1"/>
              <a:t>hai</a:t>
            </a:r>
            <a:r>
              <a:rPr lang="en-US" b="1" dirty="0"/>
              <a:t>."</a:t>
            </a:r>
            <a:endParaRPr lang="en-US" dirty="0"/>
          </a:p>
          <a:p>
            <a:endParaRPr lang="en-US" dirty="0"/>
          </a:p>
          <a:p>
            <a:endParaRPr lang="en-US" dirty="0"/>
          </a:p>
        </p:txBody>
      </p:sp>
    </p:spTree>
    <p:extLst>
      <p:ext uri="{BB962C8B-B14F-4D97-AF65-F5344CB8AC3E}">
        <p14:creationId xmlns:p14="http://schemas.microsoft.com/office/powerpoint/2010/main" val="340713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BEE48-7F69-417C-9ADD-622403C718B1}"/>
              </a:ext>
            </a:extLst>
          </p:cNvPr>
          <p:cNvSpPr>
            <a:spLocks noGrp="1"/>
          </p:cNvSpPr>
          <p:nvPr>
            <p:ph type="title"/>
          </p:nvPr>
        </p:nvSpPr>
        <p:spPr/>
        <p:txBody>
          <a:bodyPr/>
          <a:lstStyle/>
          <a:p>
            <a:r>
              <a:rPr lang="en-US" sz="4400" b="1" dirty="0">
                <a:solidFill>
                  <a:srgbClr val="FF0000"/>
                </a:solidFill>
              </a:rPr>
              <a:t>Project Start (Import Data)</a:t>
            </a:r>
            <a:endParaRPr lang="en-US" b="1" dirty="0"/>
          </a:p>
        </p:txBody>
      </p:sp>
      <p:sp>
        <p:nvSpPr>
          <p:cNvPr id="3" name="Content Placeholder 2">
            <a:extLst>
              <a:ext uri="{FF2B5EF4-FFF2-40B4-BE49-F238E27FC236}">
                <a16:creationId xmlns:a16="http://schemas.microsoft.com/office/drawing/2014/main" id="{507E870C-8222-4B2B-978C-18253E3CEDF4}"/>
              </a:ext>
            </a:extLst>
          </p:cNvPr>
          <p:cNvSpPr>
            <a:spLocks noGrp="1"/>
          </p:cNvSpPr>
          <p:nvPr>
            <p:ph idx="1"/>
          </p:nvPr>
        </p:nvSpPr>
        <p:spPr/>
        <p:txBody>
          <a:bodyPr/>
          <a:lstStyle/>
          <a:p>
            <a:r>
              <a:rPr lang="en-US" b="1" dirty="0"/>
              <a:t>Power Query</a:t>
            </a:r>
            <a:r>
              <a:rPr lang="en-US" dirty="0"/>
              <a:t> → Data cleaning aur transformation </a:t>
            </a:r>
            <a:r>
              <a:rPr lang="en-US" dirty="0" err="1"/>
              <a:t>ke</a:t>
            </a:r>
            <a:r>
              <a:rPr lang="en-US" dirty="0"/>
              <a:t> </a:t>
            </a:r>
            <a:r>
              <a:rPr lang="en-US" dirty="0" err="1"/>
              <a:t>liye</a:t>
            </a:r>
            <a:endParaRPr lang="en-US" dirty="0"/>
          </a:p>
          <a:p>
            <a:r>
              <a:rPr lang="en-US" b="1" dirty="0"/>
              <a:t>Power Pivot</a:t>
            </a:r>
            <a:r>
              <a:rPr lang="en-US" dirty="0"/>
              <a:t> → Data modeling aur calculations </a:t>
            </a:r>
            <a:r>
              <a:rPr lang="en-US" dirty="0" err="1"/>
              <a:t>ke</a:t>
            </a:r>
            <a:r>
              <a:rPr lang="en-US" dirty="0"/>
              <a:t> </a:t>
            </a:r>
            <a:r>
              <a:rPr lang="en-US" dirty="0" err="1"/>
              <a:t>liye</a:t>
            </a:r>
            <a:endParaRPr lang="en-US" dirty="0"/>
          </a:p>
          <a:p>
            <a:r>
              <a:rPr lang="en-US" b="1" dirty="0"/>
              <a:t>Power View &amp; Power Map</a:t>
            </a:r>
            <a:r>
              <a:rPr lang="en-US" dirty="0"/>
              <a:t> → Data visualization </a:t>
            </a:r>
            <a:r>
              <a:rPr lang="en-US" dirty="0" err="1"/>
              <a:t>ke</a:t>
            </a:r>
            <a:r>
              <a:rPr lang="en-US" dirty="0"/>
              <a:t> </a:t>
            </a:r>
            <a:r>
              <a:rPr lang="en-US" dirty="0" err="1"/>
              <a:t>liye</a:t>
            </a:r>
            <a:endParaRPr lang="en-US" dirty="0"/>
          </a:p>
          <a:p>
            <a:r>
              <a:rPr lang="en-US" b="1" dirty="0"/>
              <a:t>Power BI Service</a:t>
            </a:r>
            <a:r>
              <a:rPr lang="en-US" dirty="0"/>
              <a:t> → Reports ko publish aur share </a:t>
            </a:r>
            <a:r>
              <a:rPr lang="en-US" dirty="0" err="1"/>
              <a:t>karne</a:t>
            </a:r>
            <a:r>
              <a:rPr lang="en-US" dirty="0"/>
              <a:t> </a:t>
            </a:r>
            <a:r>
              <a:rPr lang="en-US" dirty="0" err="1"/>
              <a:t>ke</a:t>
            </a:r>
            <a:r>
              <a:rPr lang="en-US" dirty="0"/>
              <a:t> </a:t>
            </a:r>
            <a:r>
              <a:rPr lang="en-US" dirty="0" err="1"/>
              <a:t>liye</a:t>
            </a:r>
            <a:endParaRPr lang="en-US" dirty="0"/>
          </a:p>
          <a:p>
            <a:endParaRPr lang="en-US" dirty="0"/>
          </a:p>
        </p:txBody>
      </p:sp>
    </p:spTree>
    <p:extLst>
      <p:ext uri="{BB962C8B-B14F-4D97-AF65-F5344CB8AC3E}">
        <p14:creationId xmlns:p14="http://schemas.microsoft.com/office/powerpoint/2010/main" val="2635053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79DD-7792-4D6D-866D-4941E5391AA1}"/>
              </a:ext>
            </a:extLst>
          </p:cNvPr>
          <p:cNvSpPr>
            <a:spLocks noGrp="1"/>
          </p:cNvSpPr>
          <p:nvPr>
            <p:ph type="title"/>
          </p:nvPr>
        </p:nvSpPr>
        <p:spPr/>
        <p:txBody>
          <a:bodyPr>
            <a:normAutofit fontScale="90000"/>
          </a:bodyPr>
          <a:lstStyle/>
          <a:p>
            <a:r>
              <a:rPr lang="en-US" sz="4400" b="1" dirty="0">
                <a:solidFill>
                  <a:srgbClr val="FF0000"/>
                </a:solidFill>
              </a:rPr>
              <a:t>1. Power Query → Data Cleaning &amp; Transformation </a:t>
            </a:r>
            <a:r>
              <a:rPr lang="en-US" sz="4400" b="1" dirty="0" err="1">
                <a:solidFill>
                  <a:srgbClr val="FF0000"/>
                </a:solidFill>
              </a:rPr>
              <a:t>ke</a:t>
            </a:r>
            <a:r>
              <a:rPr lang="en-US" sz="4400" b="1" dirty="0">
                <a:solidFill>
                  <a:srgbClr val="FF0000"/>
                </a:solidFill>
              </a:rPr>
              <a:t> </a:t>
            </a:r>
            <a:r>
              <a:rPr lang="en-US" sz="4400" b="1" dirty="0" err="1">
                <a:solidFill>
                  <a:srgbClr val="FF0000"/>
                </a:solidFill>
              </a:rPr>
              <a:t>liye</a:t>
            </a:r>
            <a:br>
              <a:rPr lang="en-US" sz="4400" b="1" dirty="0"/>
            </a:br>
            <a:endParaRPr lang="en-US" b="1" dirty="0"/>
          </a:p>
        </p:txBody>
      </p:sp>
      <p:sp>
        <p:nvSpPr>
          <p:cNvPr id="3" name="Content Placeholder 2">
            <a:extLst>
              <a:ext uri="{FF2B5EF4-FFF2-40B4-BE49-F238E27FC236}">
                <a16:creationId xmlns:a16="http://schemas.microsoft.com/office/drawing/2014/main" id="{1ABF71CE-77B7-4C47-8202-0489601AA141}"/>
              </a:ext>
            </a:extLst>
          </p:cNvPr>
          <p:cNvSpPr>
            <a:spLocks noGrp="1"/>
          </p:cNvSpPr>
          <p:nvPr>
            <p:ph idx="1"/>
          </p:nvPr>
        </p:nvSpPr>
        <p:spPr/>
        <p:txBody>
          <a:bodyPr>
            <a:normAutofit fontScale="92500" lnSpcReduction="20000"/>
          </a:bodyPr>
          <a:lstStyle/>
          <a:p>
            <a:r>
              <a:rPr lang="en-US" sz="2800" dirty="0"/>
              <a:t>Power Query </a:t>
            </a:r>
            <a:r>
              <a:rPr lang="en-US" sz="2800" dirty="0" err="1"/>
              <a:t>ek</a:t>
            </a:r>
            <a:r>
              <a:rPr lang="en-US" sz="2800" dirty="0"/>
              <a:t> tool </a:t>
            </a:r>
            <a:r>
              <a:rPr lang="en-US" sz="2800" dirty="0" err="1"/>
              <a:t>hai</a:t>
            </a:r>
            <a:r>
              <a:rPr lang="en-US" sz="2800" dirty="0"/>
              <a:t> jo Power BI me data ko </a:t>
            </a:r>
            <a:r>
              <a:rPr lang="en-US" sz="2800" b="1" dirty="0"/>
              <a:t>import, clean aur transform</a:t>
            </a:r>
            <a:r>
              <a:rPr lang="en-US" sz="2800" dirty="0"/>
              <a:t> </a:t>
            </a:r>
            <a:r>
              <a:rPr lang="en-US" sz="2800" dirty="0" err="1"/>
              <a:t>karne</a:t>
            </a:r>
            <a:r>
              <a:rPr lang="en-US" sz="2800" dirty="0"/>
              <a:t> </a:t>
            </a:r>
            <a:r>
              <a:rPr lang="en-US" sz="2800" dirty="0" err="1"/>
              <a:t>ke</a:t>
            </a:r>
            <a:r>
              <a:rPr lang="en-US" sz="2800" dirty="0"/>
              <a:t> </a:t>
            </a:r>
            <a:r>
              <a:rPr lang="en-US" sz="2800" dirty="0" err="1"/>
              <a:t>liye</a:t>
            </a:r>
            <a:r>
              <a:rPr lang="en-US" sz="2800" dirty="0"/>
              <a:t> use </a:t>
            </a:r>
            <a:r>
              <a:rPr lang="en-US" sz="2800" dirty="0" err="1"/>
              <a:t>hota</a:t>
            </a:r>
            <a:r>
              <a:rPr lang="en-US" sz="2800" dirty="0"/>
              <a:t> </a:t>
            </a:r>
            <a:r>
              <a:rPr lang="en-US" sz="2800" dirty="0" err="1"/>
              <a:t>hai</a:t>
            </a:r>
            <a:r>
              <a:rPr lang="en-US" sz="2800" dirty="0"/>
              <a:t>.</a:t>
            </a:r>
          </a:p>
          <a:p>
            <a:r>
              <a:rPr lang="en-US" sz="2800" dirty="0"/>
              <a:t>Agar data Excel, SQL, CSV </a:t>
            </a:r>
            <a:r>
              <a:rPr lang="en-US" sz="2800" dirty="0" err="1"/>
              <a:t>ya</a:t>
            </a:r>
            <a:r>
              <a:rPr lang="en-US" sz="2800" dirty="0"/>
              <a:t> </a:t>
            </a:r>
            <a:r>
              <a:rPr lang="en-US" sz="2800" dirty="0" err="1"/>
              <a:t>kisi</a:t>
            </a:r>
            <a:r>
              <a:rPr lang="en-US" sz="2800" dirty="0"/>
              <a:t> aur source se </a:t>
            </a:r>
            <a:r>
              <a:rPr lang="en-US" sz="2800" dirty="0" err="1"/>
              <a:t>aaya</a:t>
            </a:r>
            <a:r>
              <a:rPr lang="en-US" sz="2800" dirty="0"/>
              <a:t> </a:t>
            </a:r>
            <a:r>
              <a:rPr lang="en-US" sz="2800" dirty="0" err="1"/>
              <a:t>hai</a:t>
            </a:r>
            <a:r>
              <a:rPr lang="en-US" sz="2800" dirty="0"/>
              <a:t> aur </a:t>
            </a:r>
            <a:r>
              <a:rPr lang="en-US" sz="2800" dirty="0" err="1"/>
              <a:t>usme</a:t>
            </a:r>
            <a:r>
              <a:rPr lang="en-US" sz="2800" dirty="0"/>
              <a:t> duplicates, null values </a:t>
            </a:r>
            <a:r>
              <a:rPr lang="en-US" sz="2800" dirty="0" err="1"/>
              <a:t>ya</a:t>
            </a:r>
            <a:r>
              <a:rPr lang="en-US" sz="2800" dirty="0"/>
              <a:t> unwanted columns </a:t>
            </a:r>
            <a:r>
              <a:rPr lang="en-US" sz="2800" dirty="0" err="1"/>
              <a:t>hain</a:t>
            </a:r>
            <a:r>
              <a:rPr lang="en-US" sz="2800" dirty="0"/>
              <a:t>, to Power Query ki </a:t>
            </a:r>
            <a:r>
              <a:rPr lang="en-US" sz="2800" dirty="0" err="1"/>
              <a:t>madad</a:t>
            </a:r>
            <a:r>
              <a:rPr lang="en-US" sz="2800" dirty="0"/>
              <a:t> se </a:t>
            </a:r>
            <a:r>
              <a:rPr lang="en-US" sz="2800" dirty="0" err="1"/>
              <a:t>unhe</a:t>
            </a:r>
            <a:r>
              <a:rPr lang="en-US" sz="2800" dirty="0"/>
              <a:t> remove </a:t>
            </a:r>
            <a:r>
              <a:rPr lang="en-US" sz="2800" dirty="0" err="1"/>
              <a:t>kar</a:t>
            </a:r>
            <a:r>
              <a:rPr lang="en-US" sz="2800" dirty="0"/>
              <a:t> </a:t>
            </a:r>
            <a:r>
              <a:rPr lang="en-US" sz="2800" dirty="0" err="1"/>
              <a:t>sakte</a:t>
            </a:r>
            <a:r>
              <a:rPr lang="en-US" sz="2800" dirty="0"/>
              <a:t> </a:t>
            </a:r>
            <a:r>
              <a:rPr lang="en-US" sz="2800" dirty="0" err="1"/>
              <a:t>hain</a:t>
            </a:r>
            <a:r>
              <a:rPr lang="en-US" sz="2800" dirty="0"/>
              <a:t>.</a:t>
            </a:r>
          </a:p>
          <a:p>
            <a:r>
              <a:rPr lang="en-US" sz="2800" dirty="0" err="1"/>
              <a:t>Aap</a:t>
            </a:r>
            <a:r>
              <a:rPr lang="en-US" sz="2800" dirty="0"/>
              <a:t> columns ko merge/split </a:t>
            </a:r>
            <a:r>
              <a:rPr lang="en-US" sz="2800" dirty="0" err="1"/>
              <a:t>kar</a:t>
            </a:r>
            <a:r>
              <a:rPr lang="en-US" sz="2800" dirty="0"/>
              <a:t> </a:t>
            </a:r>
            <a:r>
              <a:rPr lang="en-US" sz="2800" dirty="0" err="1"/>
              <a:t>sakte</a:t>
            </a:r>
            <a:r>
              <a:rPr lang="en-US" sz="2800" dirty="0"/>
              <a:t> ho, data types change </a:t>
            </a:r>
            <a:r>
              <a:rPr lang="en-US" sz="2800" dirty="0" err="1"/>
              <a:t>kar</a:t>
            </a:r>
            <a:r>
              <a:rPr lang="en-US" sz="2800" dirty="0"/>
              <a:t> </a:t>
            </a:r>
            <a:r>
              <a:rPr lang="en-US" sz="2800" dirty="0" err="1"/>
              <a:t>sakte</a:t>
            </a:r>
            <a:r>
              <a:rPr lang="en-US" sz="2800" dirty="0"/>
              <a:t> ho, filters </a:t>
            </a:r>
            <a:r>
              <a:rPr lang="en-US" sz="2800" dirty="0" err="1"/>
              <a:t>laga</a:t>
            </a:r>
            <a:r>
              <a:rPr lang="en-US" sz="2800" dirty="0"/>
              <a:t> </a:t>
            </a:r>
            <a:r>
              <a:rPr lang="en-US" sz="2800" dirty="0" err="1"/>
              <a:t>sakte</a:t>
            </a:r>
            <a:r>
              <a:rPr lang="en-US" sz="2800" dirty="0"/>
              <a:t> ho.</a:t>
            </a:r>
          </a:p>
          <a:p>
            <a:r>
              <a:rPr lang="en-US" sz="2800" dirty="0" err="1"/>
              <a:t>Matlab</a:t>
            </a:r>
            <a:r>
              <a:rPr lang="en-US" sz="2800" dirty="0"/>
              <a:t> Power Query data ko </a:t>
            </a:r>
            <a:r>
              <a:rPr lang="en-US" sz="2800" b="1" dirty="0"/>
              <a:t>analysis </a:t>
            </a:r>
            <a:r>
              <a:rPr lang="en-US" sz="2800" b="1" dirty="0" err="1"/>
              <a:t>ke</a:t>
            </a:r>
            <a:r>
              <a:rPr lang="en-US" sz="2800" b="1" dirty="0"/>
              <a:t> </a:t>
            </a:r>
            <a:r>
              <a:rPr lang="en-US" sz="2800" b="1" dirty="0" err="1"/>
              <a:t>liye</a:t>
            </a:r>
            <a:r>
              <a:rPr lang="en-US" sz="2800" b="1" dirty="0"/>
              <a:t> ready form</a:t>
            </a:r>
            <a:r>
              <a:rPr lang="en-US" sz="2800" dirty="0"/>
              <a:t> me convert </a:t>
            </a:r>
            <a:r>
              <a:rPr lang="en-US" sz="2800" dirty="0" err="1"/>
              <a:t>karta</a:t>
            </a:r>
            <a:r>
              <a:rPr lang="en-US" sz="2800" dirty="0"/>
              <a:t> </a:t>
            </a:r>
            <a:r>
              <a:rPr lang="en-US" sz="2800" dirty="0" err="1"/>
              <a:t>hai</a:t>
            </a:r>
            <a:r>
              <a:rPr lang="en-US" sz="2800" dirty="0"/>
              <a:t>.</a:t>
            </a:r>
          </a:p>
          <a:p>
            <a:r>
              <a:rPr lang="en-US" sz="2800" dirty="0"/>
              <a:t>📌 Example: Agar </a:t>
            </a:r>
            <a:r>
              <a:rPr lang="en-US" sz="2800" dirty="0" err="1"/>
              <a:t>ek</a:t>
            </a:r>
            <a:r>
              <a:rPr lang="en-US" sz="2800" dirty="0"/>
              <a:t> Excel sheet me customer names </a:t>
            </a:r>
            <a:r>
              <a:rPr lang="en-US" sz="2800" dirty="0" err="1"/>
              <a:t>alag-alag</a:t>
            </a:r>
            <a:r>
              <a:rPr lang="en-US" sz="2800" dirty="0"/>
              <a:t> format me </a:t>
            </a:r>
            <a:r>
              <a:rPr lang="en-US" sz="2800" dirty="0" err="1"/>
              <a:t>likhe</a:t>
            </a:r>
            <a:r>
              <a:rPr lang="en-US" sz="2800" dirty="0"/>
              <a:t> </a:t>
            </a:r>
            <a:r>
              <a:rPr lang="en-US" sz="2800" dirty="0" err="1"/>
              <a:t>hain</a:t>
            </a:r>
            <a:r>
              <a:rPr lang="en-US" sz="2800" dirty="0"/>
              <a:t> (ABC Ltd., </a:t>
            </a:r>
            <a:r>
              <a:rPr lang="en-US" sz="2800" dirty="0" err="1"/>
              <a:t>abc</a:t>
            </a:r>
            <a:r>
              <a:rPr lang="en-US" sz="2800" dirty="0"/>
              <a:t> ltd, ABC LTD), to Power Query </a:t>
            </a:r>
            <a:r>
              <a:rPr lang="en-US" sz="2800" dirty="0" err="1"/>
              <a:t>unhe</a:t>
            </a:r>
            <a:r>
              <a:rPr lang="en-US" sz="2800" dirty="0"/>
              <a:t> </a:t>
            </a:r>
            <a:r>
              <a:rPr lang="en-US" sz="2800" dirty="0" err="1"/>
              <a:t>ek</a:t>
            </a:r>
            <a:r>
              <a:rPr lang="en-US" sz="2800" dirty="0"/>
              <a:t> format me standardize </a:t>
            </a:r>
            <a:r>
              <a:rPr lang="en-US" sz="2800" dirty="0" err="1"/>
              <a:t>karne</a:t>
            </a:r>
            <a:r>
              <a:rPr lang="en-US" sz="2800" dirty="0"/>
              <a:t> me help </a:t>
            </a:r>
            <a:r>
              <a:rPr lang="en-US" sz="2800" dirty="0" err="1"/>
              <a:t>karega</a:t>
            </a:r>
            <a:r>
              <a:rPr lang="en-US" sz="2800" dirty="0"/>
              <a:t>.</a:t>
            </a:r>
          </a:p>
          <a:p>
            <a:endParaRPr lang="en-US" dirty="0"/>
          </a:p>
        </p:txBody>
      </p:sp>
    </p:spTree>
    <p:extLst>
      <p:ext uri="{BB962C8B-B14F-4D97-AF65-F5344CB8AC3E}">
        <p14:creationId xmlns:p14="http://schemas.microsoft.com/office/powerpoint/2010/main" val="333225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CB0A6-17BA-4C4D-A6CD-6461BFB1AF17}"/>
              </a:ext>
            </a:extLst>
          </p:cNvPr>
          <p:cNvSpPr>
            <a:spLocks noGrp="1"/>
          </p:cNvSpPr>
          <p:nvPr>
            <p:ph type="title"/>
          </p:nvPr>
        </p:nvSpPr>
        <p:spPr>
          <a:xfrm>
            <a:off x="838199" y="365125"/>
            <a:ext cx="11140441" cy="1325563"/>
          </a:xfrm>
        </p:spPr>
        <p:txBody>
          <a:bodyPr/>
          <a:lstStyle/>
          <a:p>
            <a:r>
              <a:rPr lang="en-US" sz="4400" b="1" dirty="0">
                <a:solidFill>
                  <a:srgbClr val="FF0000"/>
                </a:solidFill>
              </a:rPr>
              <a:t>2. Power Pivot → Data Modeling &amp; Calculations </a:t>
            </a:r>
            <a:r>
              <a:rPr lang="en-US" sz="4400" b="1" dirty="0" err="1">
                <a:solidFill>
                  <a:srgbClr val="FF0000"/>
                </a:solidFill>
              </a:rPr>
              <a:t>ke</a:t>
            </a:r>
            <a:r>
              <a:rPr lang="en-US" sz="4400" b="1" dirty="0">
                <a:solidFill>
                  <a:srgbClr val="FF0000"/>
                </a:solidFill>
              </a:rPr>
              <a:t> </a:t>
            </a:r>
            <a:r>
              <a:rPr lang="en-US" sz="4400" b="1" dirty="0" err="1">
                <a:solidFill>
                  <a:srgbClr val="FF0000"/>
                </a:solidFill>
              </a:rPr>
              <a:t>liye</a:t>
            </a:r>
            <a:endParaRPr lang="en-US" b="1" dirty="0"/>
          </a:p>
        </p:txBody>
      </p:sp>
      <p:sp>
        <p:nvSpPr>
          <p:cNvPr id="3" name="Content Placeholder 2">
            <a:extLst>
              <a:ext uri="{FF2B5EF4-FFF2-40B4-BE49-F238E27FC236}">
                <a16:creationId xmlns:a16="http://schemas.microsoft.com/office/drawing/2014/main" id="{B3849D0F-CEAA-40D0-BD8B-87FABBCA4D31}"/>
              </a:ext>
            </a:extLst>
          </p:cNvPr>
          <p:cNvSpPr>
            <a:spLocks noGrp="1"/>
          </p:cNvSpPr>
          <p:nvPr>
            <p:ph idx="1"/>
          </p:nvPr>
        </p:nvSpPr>
        <p:spPr/>
        <p:txBody>
          <a:bodyPr/>
          <a:lstStyle/>
          <a:p>
            <a:r>
              <a:rPr lang="en-US" dirty="0"/>
              <a:t>Power Pivot </a:t>
            </a:r>
            <a:r>
              <a:rPr lang="en-US" dirty="0" err="1"/>
              <a:t>ek</a:t>
            </a:r>
            <a:r>
              <a:rPr lang="en-US" dirty="0"/>
              <a:t> </a:t>
            </a:r>
            <a:r>
              <a:rPr lang="en-US" b="1" dirty="0"/>
              <a:t>data modeling engine</a:t>
            </a:r>
            <a:r>
              <a:rPr lang="en-US" dirty="0"/>
              <a:t> </a:t>
            </a:r>
            <a:r>
              <a:rPr lang="en-US" dirty="0" err="1"/>
              <a:t>hai</a:t>
            </a:r>
            <a:r>
              <a:rPr lang="en-US" dirty="0"/>
              <a:t> jo large data sets </a:t>
            </a:r>
            <a:r>
              <a:rPr lang="en-US" dirty="0" err="1"/>
              <a:t>ke</a:t>
            </a:r>
            <a:r>
              <a:rPr lang="en-US" dirty="0"/>
              <a:t> beech relationships </a:t>
            </a:r>
            <a:r>
              <a:rPr lang="en-US" dirty="0" err="1"/>
              <a:t>banata</a:t>
            </a:r>
            <a:r>
              <a:rPr lang="en-US" dirty="0"/>
              <a:t> </a:t>
            </a:r>
            <a:r>
              <a:rPr lang="en-US" dirty="0" err="1"/>
              <a:t>hai</a:t>
            </a:r>
            <a:r>
              <a:rPr lang="en-US" dirty="0"/>
              <a:t> aur calculations perform </a:t>
            </a:r>
            <a:r>
              <a:rPr lang="en-US" dirty="0" err="1"/>
              <a:t>karta</a:t>
            </a:r>
            <a:r>
              <a:rPr lang="en-US" dirty="0"/>
              <a:t> </a:t>
            </a:r>
            <a:r>
              <a:rPr lang="en-US" dirty="0" err="1"/>
              <a:t>hai</a:t>
            </a:r>
            <a:r>
              <a:rPr lang="en-US" dirty="0"/>
              <a:t>.</a:t>
            </a:r>
          </a:p>
          <a:p>
            <a:r>
              <a:rPr lang="en-US" dirty="0" err="1"/>
              <a:t>Isme</a:t>
            </a:r>
            <a:r>
              <a:rPr lang="en-US" dirty="0"/>
              <a:t> DAX (Data Analysis Expressions) formulas use </a:t>
            </a:r>
            <a:r>
              <a:rPr lang="en-US" dirty="0" err="1"/>
              <a:t>hote</a:t>
            </a:r>
            <a:r>
              <a:rPr lang="en-US" dirty="0"/>
              <a:t> </a:t>
            </a:r>
            <a:r>
              <a:rPr lang="en-US" dirty="0" err="1"/>
              <a:t>hain</a:t>
            </a:r>
            <a:r>
              <a:rPr lang="en-US" dirty="0"/>
              <a:t>, </a:t>
            </a:r>
            <a:r>
              <a:rPr lang="en-US" dirty="0" err="1"/>
              <a:t>jisse</a:t>
            </a:r>
            <a:r>
              <a:rPr lang="en-US" dirty="0"/>
              <a:t> </a:t>
            </a:r>
            <a:r>
              <a:rPr lang="en-US" dirty="0" err="1"/>
              <a:t>aap</a:t>
            </a:r>
            <a:r>
              <a:rPr lang="en-US" dirty="0"/>
              <a:t> custom calculations </a:t>
            </a:r>
            <a:r>
              <a:rPr lang="en-US" dirty="0" err="1"/>
              <a:t>bana</a:t>
            </a:r>
            <a:r>
              <a:rPr lang="en-US" dirty="0"/>
              <a:t> </a:t>
            </a:r>
            <a:r>
              <a:rPr lang="en-US" dirty="0" err="1"/>
              <a:t>sakte</a:t>
            </a:r>
            <a:r>
              <a:rPr lang="en-US" dirty="0"/>
              <a:t> ho.</a:t>
            </a:r>
          </a:p>
          <a:p>
            <a:r>
              <a:rPr lang="en-US" dirty="0" err="1"/>
              <a:t>Aap</a:t>
            </a:r>
            <a:r>
              <a:rPr lang="en-US" dirty="0"/>
              <a:t> multiple tables </a:t>
            </a:r>
            <a:r>
              <a:rPr lang="en-US" dirty="0" err="1"/>
              <a:t>ke</a:t>
            </a:r>
            <a:r>
              <a:rPr lang="en-US" dirty="0"/>
              <a:t> beech relation </a:t>
            </a:r>
            <a:r>
              <a:rPr lang="en-US" dirty="0" err="1"/>
              <a:t>bana</a:t>
            </a:r>
            <a:r>
              <a:rPr lang="en-US" dirty="0"/>
              <a:t> </a:t>
            </a:r>
            <a:r>
              <a:rPr lang="en-US" dirty="0" err="1"/>
              <a:t>kar</a:t>
            </a:r>
            <a:r>
              <a:rPr lang="en-US" dirty="0"/>
              <a:t> </a:t>
            </a:r>
            <a:r>
              <a:rPr lang="en-US" dirty="0" err="1"/>
              <a:t>ek</a:t>
            </a:r>
            <a:r>
              <a:rPr lang="en-US" dirty="0"/>
              <a:t> model ready </a:t>
            </a:r>
            <a:r>
              <a:rPr lang="en-US" dirty="0" err="1"/>
              <a:t>karte</a:t>
            </a:r>
            <a:r>
              <a:rPr lang="en-US" dirty="0"/>
              <a:t> ho </a:t>
            </a:r>
            <a:r>
              <a:rPr lang="en-US" dirty="0" err="1"/>
              <a:t>jisse</a:t>
            </a:r>
            <a:r>
              <a:rPr lang="en-US" dirty="0"/>
              <a:t> proper analysis possible ho.</a:t>
            </a:r>
          </a:p>
          <a:p>
            <a:r>
              <a:rPr lang="en-US" dirty="0"/>
              <a:t>📌 Example: Agar </a:t>
            </a:r>
            <a:r>
              <a:rPr lang="en-US" dirty="0" err="1"/>
              <a:t>ek</a:t>
            </a:r>
            <a:r>
              <a:rPr lang="en-US" dirty="0"/>
              <a:t> table me “Sales Data” </a:t>
            </a:r>
            <a:r>
              <a:rPr lang="en-US" dirty="0" err="1"/>
              <a:t>hai</a:t>
            </a:r>
            <a:r>
              <a:rPr lang="en-US" dirty="0"/>
              <a:t> aur </a:t>
            </a:r>
            <a:r>
              <a:rPr lang="en-US" dirty="0" err="1"/>
              <a:t>dusre</a:t>
            </a:r>
            <a:r>
              <a:rPr lang="en-US" dirty="0"/>
              <a:t> table me “Customer Info” </a:t>
            </a:r>
            <a:r>
              <a:rPr lang="en-US" dirty="0" err="1"/>
              <a:t>hai</a:t>
            </a:r>
            <a:r>
              <a:rPr lang="en-US" dirty="0"/>
              <a:t>, to Power Pivot </a:t>
            </a:r>
            <a:r>
              <a:rPr lang="en-US" dirty="0" err="1"/>
              <a:t>dono</a:t>
            </a:r>
            <a:r>
              <a:rPr lang="en-US" dirty="0"/>
              <a:t> ko link </a:t>
            </a:r>
            <a:r>
              <a:rPr lang="en-US" dirty="0" err="1"/>
              <a:t>karke</a:t>
            </a:r>
            <a:r>
              <a:rPr lang="en-US" dirty="0"/>
              <a:t> </a:t>
            </a:r>
            <a:r>
              <a:rPr lang="en-US" dirty="0" err="1"/>
              <a:t>ek</a:t>
            </a:r>
            <a:r>
              <a:rPr lang="en-US" dirty="0"/>
              <a:t> single model </a:t>
            </a:r>
            <a:r>
              <a:rPr lang="en-US" dirty="0" err="1"/>
              <a:t>bana</a:t>
            </a:r>
            <a:r>
              <a:rPr lang="en-US" dirty="0"/>
              <a:t> </a:t>
            </a:r>
            <a:r>
              <a:rPr lang="en-US" dirty="0" err="1"/>
              <a:t>dega</a:t>
            </a:r>
            <a:r>
              <a:rPr lang="en-US" dirty="0"/>
              <a:t> </a:t>
            </a:r>
            <a:r>
              <a:rPr lang="en-US" dirty="0" err="1"/>
              <a:t>jisse</a:t>
            </a:r>
            <a:r>
              <a:rPr lang="en-US" dirty="0"/>
              <a:t> combined analysis possible ho </a:t>
            </a:r>
            <a:r>
              <a:rPr lang="en-US" dirty="0" err="1"/>
              <a:t>jaye</a:t>
            </a:r>
            <a:r>
              <a:rPr lang="en-US" dirty="0"/>
              <a:t>.</a:t>
            </a:r>
          </a:p>
          <a:p>
            <a:endParaRPr lang="en-US" dirty="0"/>
          </a:p>
        </p:txBody>
      </p:sp>
    </p:spTree>
    <p:extLst>
      <p:ext uri="{BB962C8B-B14F-4D97-AF65-F5344CB8AC3E}">
        <p14:creationId xmlns:p14="http://schemas.microsoft.com/office/powerpoint/2010/main" val="372315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8173E-1796-4144-9F81-4AAA49F9D671}"/>
              </a:ext>
            </a:extLst>
          </p:cNvPr>
          <p:cNvSpPr>
            <a:spLocks noGrp="1"/>
          </p:cNvSpPr>
          <p:nvPr>
            <p:ph type="title"/>
          </p:nvPr>
        </p:nvSpPr>
        <p:spPr>
          <a:xfrm>
            <a:off x="101065" y="365125"/>
            <a:ext cx="11901637" cy="1325563"/>
          </a:xfrm>
        </p:spPr>
        <p:txBody>
          <a:bodyPr/>
          <a:lstStyle/>
          <a:p>
            <a:r>
              <a:rPr lang="en-US" sz="4400" b="1" dirty="0">
                <a:solidFill>
                  <a:srgbClr val="FF0000"/>
                </a:solidFill>
              </a:rPr>
              <a:t>Power View &amp; Power Map → Data Visualization </a:t>
            </a:r>
            <a:r>
              <a:rPr lang="en-US" sz="4400" b="1" dirty="0" err="1">
                <a:solidFill>
                  <a:srgbClr val="FF0000"/>
                </a:solidFill>
              </a:rPr>
              <a:t>ke</a:t>
            </a:r>
            <a:r>
              <a:rPr lang="en-US" sz="4400" b="1" dirty="0">
                <a:solidFill>
                  <a:srgbClr val="FF0000"/>
                </a:solidFill>
              </a:rPr>
              <a:t> </a:t>
            </a:r>
            <a:r>
              <a:rPr lang="en-US" sz="4400" b="1" dirty="0" err="1">
                <a:solidFill>
                  <a:srgbClr val="FF0000"/>
                </a:solidFill>
              </a:rPr>
              <a:t>liye</a:t>
            </a:r>
            <a:endParaRPr lang="en-US" b="1" dirty="0"/>
          </a:p>
        </p:txBody>
      </p:sp>
      <p:sp>
        <p:nvSpPr>
          <p:cNvPr id="3" name="Content Placeholder 2">
            <a:extLst>
              <a:ext uri="{FF2B5EF4-FFF2-40B4-BE49-F238E27FC236}">
                <a16:creationId xmlns:a16="http://schemas.microsoft.com/office/drawing/2014/main" id="{335F27D8-ADBB-44A1-9DA0-00B5BABF97E9}"/>
              </a:ext>
            </a:extLst>
          </p:cNvPr>
          <p:cNvSpPr>
            <a:spLocks noGrp="1"/>
          </p:cNvSpPr>
          <p:nvPr>
            <p:ph idx="1"/>
          </p:nvPr>
        </p:nvSpPr>
        <p:spPr/>
        <p:txBody>
          <a:bodyPr/>
          <a:lstStyle/>
          <a:p>
            <a:r>
              <a:rPr lang="en-US" dirty="0"/>
              <a:t>power View aur Power Map </a:t>
            </a:r>
            <a:r>
              <a:rPr lang="en-US" dirty="0" err="1"/>
              <a:t>dono</a:t>
            </a:r>
            <a:r>
              <a:rPr lang="en-US" dirty="0"/>
              <a:t> visualization tools </a:t>
            </a:r>
            <a:r>
              <a:rPr lang="en-US" dirty="0" err="1"/>
              <a:t>hain</a:t>
            </a:r>
            <a:r>
              <a:rPr lang="en-US" dirty="0"/>
              <a:t>.</a:t>
            </a:r>
          </a:p>
          <a:p>
            <a:r>
              <a:rPr lang="en-US" b="1" dirty="0"/>
              <a:t>Power View</a:t>
            </a:r>
            <a:r>
              <a:rPr lang="en-US" dirty="0"/>
              <a:t>: Interactive charts, graphs, tables </a:t>
            </a:r>
            <a:r>
              <a:rPr lang="en-US" dirty="0" err="1"/>
              <a:t>banane</a:t>
            </a:r>
            <a:r>
              <a:rPr lang="en-US" dirty="0"/>
              <a:t>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 </a:t>
            </a:r>
            <a:r>
              <a:rPr lang="en-US" dirty="0" err="1"/>
              <a:t>Isme</a:t>
            </a:r>
            <a:r>
              <a:rPr lang="en-US" dirty="0"/>
              <a:t> drag-and-drop </a:t>
            </a:r>
            <a:r>
              <a:rPr lang="en-US" dirty="0" err="1"/>
              <a:t>karke</a:t>
            </a:r>
            <a:r>
              <a:rPr lang="en-US" dirty="0"/>
              <a:t> easily visuals create </a:t>
            </a:r>
            <a:r>
              <a:rPr lang="en-US" dirty="0" err="1"/>
              <a:t>karte</a:t>
            </a:r>
            <a:r>
              <a:rPr lang="en-US" dirty="0"/>
              <a:t> </a:t>
            </a:r>
            <a:r>
              <a:rPr lang="en-US" dirty="0" err="1"/>
              <a:t>hain</a:t>
            </a:r>
            <a:r>
              <a:rPr lang="en-US" dirty="0"/>
              <a:t>.</a:t>
            </a:r>
          </a:p>
          <a:p>
            <a:r>
              <a:rPr lang="en-US" b="1" dirty="0"/>
              <a:t>Power Map</a:t>
            </a:r>
            <a:r>
              <a:rPr lang="en-US" dirty="0"/>
              <a:t>: Map-based visualization </a:t>
            </a:r>
            <a:r>
              <a:rPr lang="en-US" dirty="0" err="1"/>
              <a:t>ke</a:t>
            </a:r>
            <a:r>
              <a:rPr lang="en-US" dirty="0"/>
              <a:t> </a:t>
            </a:r>
            <a:r>
              <a:rPr lang="en-US" dirty="0" err="1"/>
              <a:t>liye</a:t>
            </a:r>
            <a:r>
              <a:rPr lang="en-US" dirty="0"/>
              <a:t> use </a:t>
            </a:r>
            <a:r>
              <a:rPr lang="en-US" dirty="0" err="1"/>
              <a:t>hota</a:t>
            </a:r>
            <a:r>
              <a:rPr lang="en-US" dirty="0"/>
              <a:t> </a:t>
            </a:r>
            <a:r>
              <a:rPr lang="en-US" dirty="0" err="1"/>
              <a:t>hai</a:t>
            </a:r>
            <a:r>
              <a:rPr lang="en-US" dirty="0"/>
              <a:t> (geographical data </a:t>
            </a:r>
            <a:r>
              <a:rPr lang="en-US" dirty="0" err="1"/>
              <a:t>ke</a:t>
            </a:r>
            <a:r>
              <a:rPr lang="en-US" dirty="0"/>
              <a:t> </a:t>
            </a:r>
            <a:r>
              <a:rPr lang="en-US" dirty="0" err="1"/>
              <a:t>liye</a:t>
            </a:r>
            <a:r>
              <a:rPr lang="en-US" dirty="0"/>
              <a:t>). Agar data me “City, Country, Latitude-Longitude” </a:t>
            </a:r>
            <a:r>
              <a:rPr lang="en-US" dirty="0" err="1"/>
              <a:t>hai</a:t>
            </a:r>
            <a:r>
              <a:rPr lang="en-US" dirty="0"/>
              <a:t> to </a:t>
            </a:r>
            <a:r>
              <a:rPr lang="en-US" dirty="0" err="1"/>
              <a:t>aap</a:t>
            </a:r>
            <a:r>
              <a:rPr lang="en-US" dirty="0"/>
              <a:t> map visualization </a:t>
            </a:r>
            <a:r>
              <a:rPr lang="en-US" dirty="0" err="1"/>
              <a:t>bana</a:t>
            </a:r>
            <a:r>
              <a:rPr lang="en-US" dirty="0"/>
              <a:t> </a:t>
            </a:r>
            <a:r>
              <a:rPr lang="en-US" dirty="0" err="1"/>
              <a:t>sakte</a:t>
            </a:r>
            <a:r>
              <a:rPr lang="en-US" dirty="0"/>
              <a:t> ho.</a:t>
            </a:r>
          </a:p>
          <a:p>
            <a:r>
              <a:rPr lang="en-US" dirty="0"/>
              <a:t>📌 Example: Agar </a:t>
            </a:r>
            <a:r>
              <a:rPr lang="en-US" dirty="0" err="1"/>
              <a:t>aapke</a:t>
            </a:r>
            <a:r>
              <a:rPr lang="en-US" dirty="0"/>
              <a:t> </a:t>
            </a:r>
            <a:r>
              <a:rPr lang="en-US" dirty="0" err="1"/>
              <a:t>paas</a:t>
            </a:r>
            <a:r>
              <a:rPr lang="en-US" dirty="0"/>
              <a:t> “Sales by Country” data </a:t>
            </a:r>
            <a:r>
              <a:rPr lang="en-US" dirty="0" err="1"/>
              <a:t>hai</a:t>
            </a:r>
            <a:r>
              <a:rPr lang="en-US" dirty="0"/>
              <a:t>, to Power Map </a:t>
            </a:r>
            <a:r>
              <a:rPr lang="en-US" dirty="0" err="1"/>
              <a:t>usse</a:t>
            </a:r>
            <a:r>
              <a:rPr lang="en-US" dirty="0"/>
              <a:t> world map par visualize </a:t>
            </a:r>
            <a:r>
              <a:rPr lang="en-US" dirty="0" err="1"/>
              <a:t>kar</a:t>
            </a:r>
            <a:r>
              <a:rPr lang="en-US" dirty="0"/>
              <a:t> </a:t>
            </a:r>
            <a:r>
              <a:rPr lang="en-US" dirty="0" err="1"/>
              <a:t>dega</a:t>
            </a:r>
            <a:r>
              <a:rPr lang="en-US" dirty="0"/>
              <a:t> </a:t>
            </a:r>
            <a:r>
              <a:rPr lang="en-US" dirty="0" err="1"/>
              <a:t>jisse</a:t>
            </a:r>
            <a:r>
              <a:rPr lang="en-US" dirty="0"/>
              <a:t> easily </a:t>
            </a:r>
            <a:r>
              <a:rPr lang="en-US" dirty="0" err="1"/>
              <a:t>pata</a:t>
            </a:r>
            <a:r>
              <a:rPr lang="en-US" dirty="0"/>
              <a:t> </a:t>
            </a:r>
            <a:r>
              <a:rPr lang="en-US" dirty="0" err="1"/>
              <a:t>chalega</a:t>
            </a:r>
            <a:r>
              <a:rPr lang="en-US" dirty="0"/>
              <a:t> </a:t>
            </a:r>
            <a:r>
              <a:rPr lang="en-US" dirty="0" err="1"/>
              <a:t>kis</a:t>
            </a:r>
            <a:r>
              <a:rPr lang="en-US" dirty="0"/>
              <a:t> country me sales </a:t>
            </a:r>
            <a:r>
              <a:rPr lang="en-US" dirty="0" err="1"/>
              <a:t>zyada</a:t>
            </a:r>
            <a:r>
              <a:rPr lang="en-US" dirty="0"/>
              <a:t> </a:t>
            </a:r>
            <a:r>
              <a:rPr lang="en-US" dirty="0" err="1"/>
              <a:t>hain</a:t>
            </a:r>
            <a:r>
              <a:rPr lang="en-US" dirty="0"/>
              <a:t>.</a:t>
            </a:r>
          </a:p>
          <a:p>
            <a:endParaRPr lang="en-US" dirty="0"/>
          </a:p>
        </p:txBody>
      </p:sp>
    </p:spTree>
    <p:extLst>
      <p:ext uri="{BB962C8B-B14F-4D97-AF65-F5344CB8AC3E}">
        <p14:creationId xmlns:p14="http://schemas.microsoft.com/office/powerpoint/2010/main" val="2527255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A049F-3049-4ECD-9995-3BCCA6CF1555}"/>
              </a:ext>
            </a:extLst>
          </p:cNvPr>
          <p:cNvSpPr>
            <a:spLocks noGrp="1"/>
          </p:cNvSpPr>
          <p:nvPr>
            <p:ph type="title"/>
          </p:nvPr>
        </p:nvSpPr>
        <p:spPr/>
        <p:txBody>
          <a:bodyPr>
            <a:normAutofit/>
          </a:bodyPr>
          <a:lstStyle/>
          <a:p>
            <a:r>
              <a:rPr lang="en-US" sz="4000" b="1" dirty="0"/>
              <a:t>4</a:t>
            </a:r>
            <a:r>
              <a:rPr lang="en-US" sz="4000" b="1" dirty="0">
                <a:solidFill>
                  <a:srgbClr val="FF0000"/>
                </a:solidFill>
              </a:rPr>
              <a:t>. Power BI Service → Reports ko Publish &amp; Share </a:t>
            </a:r>
            <a:r>
              <a:rPr lang="en-US" sz="4000" b="1" dirty="0" err="1">
                <a:solidFill>
                  <a:srgbClr val="FF0000"/>
                </a:solidFill>
              </a:rPr>
              <a:t>karne</a:t>
            </a:r>
            <a:r>
              <a:rPr lang="en-US" sz="4000" b="1" dirty="0">
                <a:solidFill>
                  <a:srgbClr val="FF0000"/>
                </a:solidFill>
              </a:rPr>
              <a:t> </a:t>
            </a:r>
            <a:r>
              <a:rPr lang="en-US" sz="4000" b="1" dirty="0" err="1">
                <a:solidFill>
                  <a:srgbClr val="FF0000"/>
                </a:solidFill>
              </a:rPr>
              <a:t>ke</a:t>
            </a:r>
            <a:r>
              <a:rPr lang="en-US" sz="4000" b="1" dirty="0">
                <a:solidFill>
                  <a:srgbClr val="FF0000"/>
                </a:solidFill>
              </a:rPr>
              <a:t> </a:t>
            </a:r>
            <a:r>
              <a:rPr lang="en-US" sz="4000" b="1" dirty="0" err="1">
                <a:solidFill>
                  <a:srgbClr val="FF0000"/>
                </a:solidFill>
              </a:rPr>
              <a:t>liye</a:t>
            </a:r>
            <a:endParaRPr lang="en-US" sz="4000" b="1" dirty="0"/>
          </a:p>
        </p:txBody>
      </p:sp>
      <p:sp>
        <p:nvSpPr>
          <p:cNvPr id="3" name="Content Placeholder 2">
            <a:extLst>
              <a:ext uri="{FF2B5EF4-FFF2-40B4-BE49-F238E27FC236}">
                <a16:creationId xmlns:a16="http://schemas.microsoft.com/office/drawing/2014/main" id="{14D1F27F-BDF7-405B-BF72-373AE031EF71}"/>
              </a:ext>
            </a:extLst>
          </p:cNvPr>
          <p:cNvSpPr>
            <a:spLocks noGrp="1"/>
          </p:cNvSpPr>
          <p:nvPr>
            <p:ph idx="1"/>
          </p:nvPr>
        </p:nvSpPr>
        <p:spPr>
          <a:xfrm>
            <a:off x="838199" y="1825625"/>
            <a:ext cx="10875745" cy="4844682"/>
          </a:xfrm>
        </p:spPr>
        <p:txBody>
          <a:bodyPr>
            <a:normAutofit/>
          </a:bodyPr>
          <a:lstStyle/>
          <a:p>
            <a:r>
              <a:rPr lang="en-US" dirty="0"/>
              <a:t>Power BI Service </a:t>
            </a:r>
            <a:r>
              <a:rPr lang="en-US" dirty="0" err="1"/>
              <a:t>ek</a:t>
            </a:r>
            <a:r>
              <a:rPr lang="en-US" dirty="0"/>
              <a:t> </a:t>
            </a:r>
            <a:r>
              <a:rPr lang="en-US" b="1" dirty="0"/>
              <a:t>cloud platform</a:t>
            </a:r>
            <a:r>
              <a:rPr lang="en-US" dirty="0"/>
              <a:t> </a:t>
            </a:r>
            <a:r>
              <a:rPr lang="en-US" dirty="0" err="1"/>
              <a:t>hai</a:t>
            </a:r>
            <a:r>
              <a:rPr lang="en-US" dirty="0"/>
              <a:t> </a:t>
            </a:r>
            <a:r>
              <a:rPr lang="en-US" dirty="0" err="1"/>
              <a:t>jaha</a:t>
            </a:r>
            <a:r>
              <a:rPr lang="en-US" dirty="0"/>
              <a:t> </a:t>
            </a:r>
            <a:r>
              <a:rPr lang="en-US" dirty="0" err="1"/>
              <a:t>aap</a:t>
            </a:r>
            <a:r>
              <a:rPr lang="en-US" dirty="0"/>
              <a:t> </a:t>
            </a:r>
            <a:r>
              <a:rPr lang="en-US" dirty="0" err="1"/>
              <a:t>apne</a:t>
            </a:r>
            <a:r>
              <a:rPr lang="en-US" dirty="0"/>
              <a:t> reports aur dashboards publish </a:t>
            </a:r>
            <a:r>
              <a:rPr lang="en-US" dirty="0" err="1"/>
              <a:t>kar</a:t>
            </a:r>
            <a:r>
              <a:rPr lang="en-US" dirty="0"/>
              <a:t> </a:t>
            </a:r>
            <a:r>
              <a:rPr lang="en-US" dirty="0" err="1"/>
              <a:t>sakte</a:t>
            </a:r>
            <a:r>
              <a:rPr lang="en-US" dirty="0"/>
              <a:t> ho.</a:t>
            </a:r>
          </a:p>
          <a:p>
            <a:r>
              <a:rPr lang="en-US" dirty="0" err="1"/>
              <a:t>Isse</a:t>
            </a:r>
            <a:r>
              <a:rPr lang="en-US" dirty="0"/>
              <a:t> </a:t>
            </a:r>
            <a:r>
              <a:rPr lang="en-US" dirty="0" err="1"/>
              <a:t>aap</a:t>
            </a:r>
            <a:r>
              <a:rPr lang="en-US" dirty="0"/>
              <a:t> </a:t>
            </a:r>
            <a:r>
              <a:rPr lang="en-US" dirty="0" err="1"/>
              <a:t>apni</a:t>
            </a:r>
            <a:r>
              <a:rPr lang="en-US" dirty="0"/>
              <a:t> team </a:t>
            </a:r>
            <a:r>
              <a:rPr lang="en-US" dirty="0" err="1"/>
              <a:t>ya</a:t>
            </a:r>
            <a:r>
              <a:rPr lang="en-US" dirty="0"/>
              <a:t> organization </a:t>
            </a:r>
            <a:r>
              <a:rPr lang="en-US" dirty="0" err="1"/>
              <a:t>ke</a:t>
            </a:r>
            <a:r>
              <a:rPr lang="en-US" dirty="0"/>
              <a:t> </a:t>
            </a:r>
            <a:r>
              <a:rPr lang="en-US" dirty="0" err="1"/>
              <a:t>saath</a:t>
            </a:r>
            <a:r>
              <a:rPr lang="en-US" dirty="0"/>
              <a:t> reports share </a:t>
            </a:r>
            <a:r>
              <a:rPr lang="en-US" dirty="0" err="1"/>
              <a:t>kar</a:t>
            </a:r>
            <a:r>
              <a:rPr lang="en-US" dirty="0"/>
              <a:t> </a:t>
            </a:r>
            <a:r>
              <a:rPr lang="en-US" dirty="0" err="1"/>
              <a:t>sakte</a:t>
            </a:r>
            <a:r>
              <a:rPr lang="en-US" dirty="0"/>
              <a:t> ho.</a:t>
            </a:r>
          </a:p>
          <a:p>
            <a:r>
              <a:rPr lang="en-US" dirty="0" err="1"/>
              <a:t>Isme</a:t>
            </a:r>
            <a:r>
              <a:rPr lang="en-US" dirty="0"/>
              <a:t> real-time dashboards </a:t>
            </a:r>
            <a:r>
              <a:rPr lang="en-US" dirty="0" err="1"/>
              <a:t>banate</a:t>
            </a:r>
            <a:r>
              <a:rPr lang="en-US" dirty="0"/>
              <a:t> </a:t>
            </a:r>
            <a:r>
              <a:rPr lang="en-US" dirty="0" err="1"/>
              <a:t>hain</a:t>
            </a:r>
            <a:r>
              <a:rPr lang="en-US" dirty="0"/>
              <a:t> jo automatic update </a:t>
            </a:r>
            <a:r>
              <a:rPr lang="en-US" dirty="0" err="1"/>
              <a:t>hote</a:t>
            </a:r>
            <a:r>
              <a:rPr lang="en-US" dirty="0"/>
              <a:t> </a:t>
            </a:r>
            <a:r>
              <a:rPr lang="en-US" dirty="0" err="1"/>
              <a:t>rehte</a:t>
            </a:r>
            <a:r>
              <a:rPr lang="en-US" dirty="0"/>
              <a:t> </a:t>
            </a:r>
            <a:r>
              <a:rPr lang="en-US" dirty="0" err="1"/>
              <a:t>hain</a:t>
            </a:r>
            <a:r>
              <a:rPr lang="en-US" dirty="0"/>
              <a:t> jab data source update </a:t>
            </a:r>
            <a:r>
              <a:rPr lang="en-US" dirty="0" err="1"/>
              <a:t>hota</a:t>
            </a:r>
            <a:r>
              <a:rPr lang="en-US" dirty="0"/>
              <a:t> </a:t>
            </a:r>
            <a:r>
              <a:rPr lang="en-US" dirty="0" err="1"/>
              <a:t>hai</a:t>
            </a:r>
            <a:r>
              <a:rPr lang="en-US" dirty="0"/>
              <a:t>.</a:t>
            </a:r>
          </a:p>
          <a:p>
            <a:r>
              <a:rPr lang="en-US" dirty="0"/>
              <a:t>Mobile app </a:t>
            </a:r>
            <a:r>
              <a:rPr lang="en-US" dirty="0" err="1"/>
              <a:t>ke</a:t>
            </a:r>
            <a:r>
              <a:rPr lang="en-US" dirty="0"/>
              <a:t> through </a:t>
            </a:r>
            <a:r>
              <a:rPr lang="en-US" dirty="0" err="1"/>
              <a:t>bhi</a:t>
            </a:r>
            <a:r>
              <a:rPr lang="en-US" dirty="0"/>
              <a:t> reports access </a:t>
            </a:r>
            <a:r>
              <a:rPr lang="en-US" dirty="0" err="1"/>
              <a:t>kiye</a:t>
            </a:r>
            <a:r>
              <a:rPr lang="en-US" dirty="0"/>
              <a:t> ja </a:t>
            </a:r>
            <a:r>
              <a:rPr lang="en-US" dirty="0" err="1"/>
              <a:t>sakte</a:t>
            </a:r>
            <a:r>
              <a:rPr lang="en-US" dirty="0"/>
              <a:t> </a:t>
            </a:r>
            <a:r>
              <a:rPr lang="en-US" dirty="0" err="1"/>
              <a:t>hain</a:t>
            </a:r>
            <a:r>
              <a:rPr lang="en-US" dirty="0"/>
              <a:t>.</a:t>
            </a:r>
          </a:p>
          <a:p>
            <a:r>
              <a:rPr lang="en-US" dirty="0"/>
              <a:t>📌 Example: Agar </a:t>
            </a:r>
            <a:r>
              <a:rPr lang="en-US" dirty="0" err="1"/>
              <a:t>aapne</a:t>
            </a:r>
            <a:r>
              <a:rPr lang="en-US" dirty="0"/>
              <a:t> </a:t>
            </a:r>
            <a:r>
              <a:rPr lang="en-US" dirty="0" err="1"/>
              <a:t>ek</a:t>
            </a:r>
            <a:r>
              <a:rPr lang="en-US" dirty="0"/>
              <a:t> Sales Dashboard </a:t>
            </a:r>
            <a:r>
              <a:rPr lang="en-US" dirty="0" err="1"/>
              <a:t>banaya</a:t>
            </a:r>
            <a:r>
              <a:rPr lang="en-US" dirty="0"/>
              <a:t> </a:t>
            </a:r>
            <a:r>
              <a:rPr lang="en-US" dirty="0" err="1"/>
              <a:t>hai</a:t>
            </a:r>
            <a:r>
              <a:rPr lang="en-US" dirty="0"/>
              <a:t> aur </a:t>
            </a:r>
            <a:r>
              <a:rPr lang="en-US" dirty="0" err="1"/>
              <a:t>usse</a:t>
            </a:r>
            <a:r>
              <a:rPr lang="en-US" dirty="0"/>
              <a:t> </a:t>
            </a:r>
            <a:r>
              <a:rPr lang="en-US" dirty="0" err="1"/>
              <a:t>apni</a:t>
            </a:r>
            <a:r>
              <a:rPr lang="en-US" dirty="0"/>
              <a:t> company </a:t>
            </a:r>
            <a:r>
              <a:rPr lang="en-US" dirty="0" err="1"/>
              <a:t>ke</a:t>
            </a:r>
            <a:r>
              <a:rPr lang="en-US" dirty="0"/>
              <a:t> management </a:t>
            </a:r>
            <a:r>
              <a:rPr lang="en-US" dirty="0" err="1"/>
              <a:t>ke</a:t>
            </a:r>
            <a:r>
              <a:rPr lang="en-US" dirty="0"/>
              <a:t> </a:t>
            </a:r>
            <a:r>
              <a:rPr lang="en-US" dirty="0" err="1"/>
              <a:t>sath</a:t>
            </a:r>
            <a:r>
              <a:rPr lang="en-US" dirty="0"/>
              <a:t> share </a:t>
            </a:r>
            <a:r>
              <a:rPr lang="en-US" dirty="0" err="1"/>
              <a:t>karna</a:t>
            </a:r>
            <a:r>
              <a:rPr lang="en-US" dirty="0"/>
              <a:t> </a:t>
            </a:r>
            <a:r>
              <a:rPr lang="en-US" dirty="0" err="1"/>
              <a:t>hai</a:t>
            </a:r>
            <a:r>
              <a:rPr lang="en-US" dirty="0"/>
              <a:t>, to </a:t>
            </a:r>
            <a:r>
              <a:rPr lang="en-US" dirty="0" err="1"/>
              <a:t>aap</a:t>
            </a:r>
            <a:r>
              <a:rPr lang="en-US" dirty="0"/>
              <a:t> </a:t>
            </a:r>
            <a:r>
              <a:rPr lang="en-US" dirty="0" err="1"/>
              <a:t>usse</a:t>
            </a:r>
            <a:r>
              <a:rPr lang="en-US" dirty="0"/>
              <a:t> Power BI Service par publish </a:t>
            </a:r>
            <a:r>
              <a:rPr lang="en-US" dirty="0" err="1"/>
              <a:t>karke</a:t>
            </a:r>
            <a:r>
              <a:rPr lang="en-US" dirty="0"/>
              <a:t> access de doge.</a:t>
            </a:r>
          </a:p>
          <a:p>
            <a:endParaRPr lang="en-US" dirty="0"/>
          </a:p>
        </p:txBody>
      </p:sp>
    </p:spTree>
    <p:extLst>
      <p:ext uri="{BB962C8B-B14F-4D97-AF65-F5344CB8AC3E}">
        <p14:creationId xmlns:p14="http://schemas.microsoft.com/office/powerpoint/2010/main" val="3926485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2CF79-A947-47F3-ACE6-BA0AA10D44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1798EA-5691-450A-9F57-ACAB4268D1CA}"/>
              </a:ext>
            </a:extLst>
          </p:cNvPr>
          <p:cNvSpPr>
            <a:spLocks noGrp="1"/>
          </p:cNvSpPr>
          <p:nvPr>
            <p:ph idx="1"/>
          </p:nvPr>
        </p:nvSpPr>
        <p:spPr/>
        <p:txBody>
          <a:bodyPr/>
          <a:lstStyle/>
          <a:p>
            <a:r>
              <a:rPr lang="en-US" b="1" dirty="0"/>
              <a:t>Power Query</a:t>
            </a:r>
            <a:r>
              <a:rPr lang="en-US" dirty="0"/>
              <a:t> = Data clean &amp; prepare</a:t>
            </a:r>
          </a:p>
          <a:p>
            <a:r>
              <a:rPr lang="en-US" b="1" dirty="0"/>
              <a:t>Power Pivot</a:t>
            </a:r>
            <a:r>
              <a:rPr lang="en-US" dirty="0"/>
              <a:t> = Data model &amp; calculations</a:t>
            </a:r>
          </a:p>
          <a:p>
            <a:r>
              <a:rPr lang="en-US" b="1" dirty="0"/>
              <a:t>Power View/Map</a:t>
            </a:r>
            <a:r>
              <a:rPr lang="en-US" dirty="0"/>
              <a:t> = Data visualization</a:t>
            </a:r>
          </a:p>
          <a:p>
            <a:r>
              <a:rPr lang="en-US" b="1" dirty="0"/>
              <a:t>Power BI Service</a:t>
            </a:r>
            <a:r>
              <a:rPr lang="en-US" dirty="0"/>
              <a:t> = Publish &amp; share</a:t>
            </a:r>
          </a:p>
          <a:p>
            <a:endParaRPr lang="en-US" dirty="0"/>
          </a:p>
        </p:txBody>
      </p:sp>
    </p:spTree>
    <p:extLst>
      <p:ext uri="{BB962C8B-B14F-4D97-AF65-F5344CB8AC3E}">
        <p14:creationId xmlns:p14="http://schemas.microsoft.com/office/powerpoint/2010/main" val="3791651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62E3-C813-4B33-95EE-DCEDB422B490}"/>
              </a:ext>
            </a:extLst>
          </p:cNvPr>
          <p:cNvSpPr>
            <a:spLocks noGrp="1"/>
          </p:cNvSpPr>
          <p:nvPr>
            <p:ph type="title"/>
          </p:nvPr>
        </p:nvSpPr>
        <p:spPr>
          <a:xfrm>
            <a:off x="838200" y="271328"/>
            <a:ext cx="10515600" cy="409709"/>
          </a:xfrm>
        </p:spPr>
        <p:txBody>
          <a:bodyPr>
            <a:normAutofit fontScale="90000"/>
          </a:bodyPr>
          <a:lstStyle/>
          <a:p>
            <a:r>
              <a:rPr lang="en-US" b="1" dirty="0">
                <a:solidFill>
                  <a:srgbClr val="FF0000"/>
                </a:solidFill>
              </a:rPr>
              <a:t>Power BI</a:t>
            </a:r>
          </a:p>
        </p:txBody>
      </p:sp>
      <p:sp>
        <p:nvSpPr>
          <p:cNvPr id="3" name="Content Placeholder 2">
            <a:extLst>
              <a:ext uri="{FF2B5EF4-FFF2-40B4-BE49-F238E27FC236}">
                <a16:creationId xmlns:a16="http://schemas.microsoft.com/office/drawing/2014/main" id="{B7343ABF-1640-485D-A953-94DA2BB6BE46}"/>
              </a:ext>
            </a:extLst>
          </p:cNvPr>
          <p:cNvSpPr>
            <a:spLocks noGrp="1"/>
          </p:cNvSpPr>
          <p:nvPr>
            <p:ph idx="1"/>
          </p:nvPr>
        </p:nvSpPr>
        <p:spPr>
          <a:xfrm>
            <a:off x="838199" y="899962"/>
            <a:ext cx="10798743" cy="5686710"/>
          </a:xfrm>
        </p:spPr>
        <p:txBody>
          <a:bodyPr>
            <a:normAutofit fontScale="85000" lnSpcReduction="20000"/>
          </a:bodyPr>
          <a:lstStyle/>
          <a:p>
            <a:pPr marL="0" indent="0">
              <a:buNone/>
            </a:pPr>
            <a:r>
              <a:rPr lang="en-US" b="1" dirty="0"/>
              <a:t>Power BI raw data ko analyze </a:t>
            </a:r>
            <a:r>
              <a:rPr lang="en-US" b="1" dirty="0" err="1"/>
              <a:t>karke</a:t>
            </a:r>
            <a:r>
              <a:rPr lang="en-US" b="1" dirty="0"/>
              <a:t> </a:t>
            </a:r>
            <a:r>
              <a:rPr lang="en-US" b="1" dirty="0" err="1"/>
              <a:t>usse</a:t>
            </a:r>
            <a:r>
              <a:rPr lang="en-US" b="1" dirty="0"/>
              <a:t> interactive charts, reports aur dashboards </a:t>
            </a:r>
            <a:r>
              <a:rPr lang="en-US" b="1" dirty="0" err="1"/>
              <a:t>mein</a:t>
            </a:r>
            <a:r>
              <a:rPr lang="en-US" b="1" dirty="0"/>
              <a:t> convert </a:t>
            </a:r>
            <a:r>
              <a:rPr lang="en-US" b="1" dirty="0" err="1"/>
              <a:t>karta</a:t>
            </a:r>
            <a:r>
              <a:rPr lang="en-US" b="1" dirty="0"/>
              <a:t> </a:t>
            </a:r>
            <a:r>
              <a:rPr lang="en-US" b="1" dirty="0" err="1"/>
              <a:t>hai</a:t>
            </a:r>
            <a:r>
              <a:rPr lang="en-US" b="1" dirty="0"/>
              <a:t>.</a:t>
            </a:r>
          </a:p>
          <a:p>
            <a:pPr marL="0" indent="0">
              <a:buNone/>
            </a:pPr>
            <a:r>
              <a:rPr lang="en-US" b="1" dirty="0"/>
              <a:t>Example:</a:t>
            </a:r>
          </a:p>
          <a:p>
            <a:pPr marL="0" indent="0">
              <a:buNone/>
            </a:pPr>
            <a:endParaRPr lang="en-US" b="1" dirty="0"/>
          </a:p>
          <a:p>
            <a:pPr marL="0" indent="0">
              <a:buNone/>
            </a:pPr>
            <a:r>
              <a:rPr lang="en-US" b="1" dirty="0">
                <a:solidFill>
                  <a:srgbClr val="00B0F0"/>
                </a:solidFill>
              </a:rPr>
              <a:t>Agar company </a:t>
            </a:r>
            <a:r>
              <a:rPr lang="en-US" b="1" dirty="0" err="1">
                <a:solidFill>
                  <a:srgbClr val="00B0F0"/>
                </a:solidFill>
              </a:rPr>
              <a:t>ke</a:t>
            </a:r>
            <a:r>
              <a:rPr lang="en-US" b="1" dirty="0">
                <a:solidFill>
                  <a:srgbClr val="00B0F0"/>
                </a:solidFill>
              </a:rPr>
              <a:t> </a:t>
            </a:r>
            <a:r>
              <a:rPr lang="en-US" b="1" dirty="0" err="1">
                <a:solidFill>
                  <a:srgbClr val="00B0F0"/>
                </a:solidFill>
              </a:rPr>
              <a:t>paas</a:t>
            </a:r>
            <a:r>
              <a:rPr lang="en-US" b="1" dirty="0">
                <a:solidFill>
                  <a:srgbClr val="00B0F0"/>
                </a:solidFill>
              </a:rPr>
              <a:t> sales ka data </a:t>
            </a:r>
            <a:r>
              <a:rPr lang="en-US" b="1" dirty="0" err="1">
                <a:solidFill>
                  <a:srgbClr val="00B0F0"/>
                </a:solidFill>
              </a:rPr>
              <a:t>hai</a:t>
            </a:r>
            <a:r>
              <a:rPr lang="en-US" b="1" dirty="0">
                <a:solidFill>
                  <a:srgbClr val="00B0F0"/>
                </a:solidFill>
              </a:rPr>
              <a:t>:</a:t>
            </a:r>
          </a:p>
          <a:p>
            <a:pPr marL="0" indent="0">
              <a:buNone/>
            </a:pPr>
            <a:r>
              <a:rPr lang="en-US" b="1" dirty="0"/>
              <a:t>January → ₹50,000 </a:t>
            </a:r>
          </a:p>
          <a:p>
            <a:pPr marL="0" indent="0">
              <a:buNone/>
            </a:pPr>
            <a:r>
              <a:rPr lang="en-US" b="1" dirty="0"/>
              <a:t>February → ₹70,000 </a:t>
            </a:r>
          </a:p>
          <a:p>
            <a:pPr marL="0" indent="0">
              <a:buNone/>
            </a:pPr>
            <a:r>
              <a:rPr lang="en-US" b="1" dirty="0"/>
              <a:t>March → ₹90,000 </a:t>
            </a:r>
          </a:p>
          <a:p>
            <a:pPr marL="0" indent="0">
              <a:buNone/>
            </a:pPr>
            <a:endParaRPr lang="en-US" b="1" dirty="0"/>
          </a:p>
          <a:p>
            <a:pPr marL="0" indent="0">
              <a:buNone/>
            </a:pPr>
            <a:r>
              <a:rPr lang="en-US" b="1" dirty="0">
                <a:solidFill>
                  <a:srgbClr val="00B0F0"/>
                </a:solidFill>
              </a:rPr>
              <a:t>Power BI se hum </a:t>
            </a:r>
            <a:r>
              <a:rPr lang="en-US" b="1" dirty="0" err="1">
                <a:solidFill>
                  <a:srgbClr val="00B0F0"/>
                </a:solidFill>
              </a:rPr>
              <a:t>dekh</a:t>
            </a:r>
            <a:r>
              <a:rPr lang="en-US" b="1" dirty="0">
                <a:solidFill>
                  <a:srgbClr val="00B0F0"/>
                </a:solidFill>
              </a:rPr>
              <a:t> </a:t>
            </a:r>
            <a:r>
              <a:rPr lang="en-US" b="1" dirty="0" err="1">
                <a:solidFill>
                  <a:srgbClr val="00B0F0"/>
                </a:solidFill>
              </a:rPr>
              <a:t>sakte</a:t>
            </a:r>
            <a:r>
              <a:rPr lang="en-US" b="1" dirty="0">
                <a:solidFill>
                  <a:srgbClr val="00B0F0"/>
                </a:solidFill>
              </a:rPr>
              <a:t> </a:t>
            </a:r>
            <a:r>
              <a:rPr lang="en-US" b="1" dirty="0" err="1">
                <a:solidFill>
                  <a:srgbClr val="00B0F0"/>
                </a:solidFill>
              </a:rPr>
              <a:t>hain</a:t>
            </a:r>
            <a:r>
              <a:rPr lang="en-US" b="1" dirty="0">
                <a:solidFill>
                  <a:srgbClr val="00B0F0"/>
                </a:solidFill>
              </a:rPr>
              <a:t>:</a:t>
            </a:r>
          </a:p>
          <a:p>
            <a:pPr marL="0" indent="0">
              <a:buNone/>
            </a:pPr>
            <a:r>
              <a:rPr lang="en-US" b="1" dirty="0"/>
              <a:t>📊 </a:t>
            </a:r>
            <a:r>
              <a:rPr lang="en-US" b="1" dirty="0" err="1"/>
              <a:t>Kis</a:t>
            </a:r>
            <a:r>
              <a:rPr lang="en-US" b="1" dirty="0"/>
              <a:t> month </a:t>
            </a:r>
            <a:r>
              <a:rPr lang="en-US" b="1" dirty="0" err="1"/>
              <a:t>mein</a:t>
            </a:r>
            <a:r>
              <a:rPr lang="en-US" b="1" dirty="0"/>
              <a:t> sales </a:t>
            </a:r>
            <a:r>
              <a:rPr lang="en-US" b="1" dirty="0" err="1"/>
              <a:t>zyada</a:t>
            </a:r>
            <a:r>
              <a:rPr lang="en-US" b="1" dirty="0"/>
              <a:t> hui </a:t>
            </a:r>
          </a:p>
          <a:p>
            <a:pPr marL="0" indent="0">
              <a:buNone/>
            </a:pPr>
            <a:r>
              <a:rPr lang="en-US" b="1" dirty="0"/>
              <a:t>📈 Sales growth </a:t>
            </a:r>
            <a:r>
              <a:rPr lang="en-US" b="1" dirty="0" err="1"/>
              <a:t>kitni</a:t>
            </a:r>
            <a:r>
              <a:rPr lang="en-US" b="1" dirty="0"/>
              <a:t> </a:t>
            </a:r>
            <a:r>
              <a:rPr lang="en-US" b="1" dirty="0" err="1"/>
              <a:t>hai</a:t>
            </a:r>
            <a:r>
              <a:rPr lang="en-US" b="1" dirty="0"/>
              <a:t> </a:t>
            </a:r>
          </a:p>
          <a:p>
            <a:pPr marL="0" indent="0">
              <a:buNone/>
            </a:pPr>
            <a:r>
              <a:rPr lang="en-US" b="1" dirty="0"/>
              <a:t>🏆 </a:t>
            </a:r>
            <a:r>
              <a:rPr lang="en-US" b="1" dirty="0" err="1"/>
              <a:t>Kaunsa</a:t>
            </a:r>
            <a:r>
              <a:rPr lang="en-US" b="1" dirty="0"/>
              <a:t> product </a:t>
            </a:r>
            <a:r>
              <a:rPr lang="en-US" b="1" dirty="0" err="1"/>
              <a:t>sabse</a:t>
            </a:r>
            <a:r>
              <a:rPr lang="en-US" b="1" dirty="0"/>
              <a:t> </a:t>
            </a:r>
            <a:r>
              <a:rPr lang="en-US" b="1" dirty="0" err="1"/>
              <a:t>zyada</a:t>
            </a:r>
            <a:r>
              <a:rPr lang="en-US" b="1" dirty="0"/>
              <a:t> sell </a:t>
            </a:r>
            <a:r>
              <a:rPr lang="en-US" b="1" dirty="0" err="1"/>
              <a:t>hua</a:t>
            </a:r>
            <a:r>
              <a:rPr lang="en-US" b="1" dirty="0"/>
              <a:t> </a:t>
            </a:r>
          </a:p>
          <a:p>
            <a:pPr marL="0" indent="0">
              <a:buNone/>
            </a:pPr>
            <a:r>
              <a:rPr lang="en-US" b="1" dirty="0"/>
              <a:t>🔍 Different filters </a:t>
            </a:r>
            <a:r>
              <a:rPr lang="en-US" b="1" dirty="0" err="1"/>
              <a:t>laga</a:t>
            </a:r>
            <a:r>
              <a:rPr lang="en-US" b="1" dirty="0"/>
              <a:t> </a:t>
            </a:r>
            <a:r>
              <a:rPr lang="en-US" b="1" dirty="0" err="1"/>
              <a:t>kar</a:t>
            </a:r>
            <a:r>
              <a:rPr lang="en-US" b="1" dirty="0"/>
              <a:t> data analyze </a:t>
            </a:r>
            <a:r>
              <a:rPr lang="en-US" b="1" dirty="0" err="1"/>
              <a:t>karna</a:t>
            </a:r>
            <a:r>
              <a:rPr lang="en-US" b="1" dirty="0"/>
              <a:t> </a:t>
            </a:r>
          </a:p>
          <a:p>
            <a:pPr marL="0" indent="0">
              <a:buNone/>
            </a:pPr>
            <a:r>
              <a:rPr lang="en-US" b="1" dirty="0"/>
              <a:t>📋 Interactive dashboard banana</a:t>
            </a:r>
          </a:p>
          <a:p>
            <a:pPr marL="0" indent="0">
              <a:buNone/>
            </a:pPr>
            <a:endParaRPr lang="en-US" dirty="0"/>
          </a:p>
        </p:txBody>
      </p:sp>
    </p:spTree>
    <p:extLst>
      <p:ext uri="{BB962C8B-B14F-4D97-AF65-F5344CB8AC3E}">
        <p14:creationId xmlns:p14="http://schemas.microsoft.com/office/powerpoint/2010/main" val="1586267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504F3-A26F-4322-855E-8447AB39CD4C}"/>
              </a:ext>
            </a:extLst>
          </p:cNvPr>
          <p:cNvSpPr>
            <a:spLocks noGrp="1"/>
          </p:cNvSpPr>
          <p:nvPr>
            <p:ph type="title"/>
          </p:nvPr>
        </p:nvSpPr>
        <p:spPr/>
        <p:txBody>
          <a:bodyPr/>
          <a:lstStyle/>
          <a:p>
            <a:r>
              <a:rPr lang="en-US" dirty="0"/>
              <a:t>Ribbon</a:t>
            </a:r>
            <a:r>
              <a:rPr lang="hi-IN" dirty="0"/>
              <a:t>रिबन चार्ट </a:t>
            </a:r>
            <a:endParaRPr lang="en-US" dirty="0"/>
          </a:p>
        </p:txBody>
      </p:sp>
      <p:pic>
        <p:nvPicPr>
          <p:cNvPr id="5" name="Content Placeholder 4">
            <a:extLst>
              <a:ext uri="{FF2B5EF4-FFF2-40B4-BE49-F238E27FC236}">
                <a16:creationId xmlns:a16="http://schemas.microsoft.com/office/drawing/2014/main" id="{CD1D1057-0C27-4362-9081-A581E130D964}"/>
              </a:ext>
            </a:extLst>
          </p:cNvPr>
          <p:cNvPicPr>
            <a:picLocks noGrp="1" noChangeAspect="1"/>
          </p:cNvPicPr>
          <p:nvPr>
            <p:ph idx="1"/>
          </p:nvPr>
        </p:nvPicPr>
        <p:blipFill>
          <a:blip r:embed="rId2"/>
          <a:stretch>
            <a:fillRect/>
          </a:stretch>
        </p:blipFill>
        <p:spPr>
          <a:xfrm>
            <a:off x="636070" y="1690688"/>
            <a:ext cx="10515600" cy="1027716"/>
          </a:xfrm>
        </p:spPr>
      </p:pic>
    </p:spTree>
    <p:extLst>
      <p:ext uri="{BB962C8B-B14F-4D97-AF65-F5344CB8AC3E}">
        <p14:creationId xmlns:p14="http://schemas.microsoft.com/office/powerpoint/2010/main" val="588877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58F-E622-4ED2-BAD2-C0BFAEBB05E6}"/>
              </a:ext>
            </a:extLst>
          </p:cNvPr>
          <p:cNvSpPr>
            <a:spLocks noGrp="1"/>
          </p:cNvSpPr>
          <p:nvPr>
            <p:ph type="title"/>
          </p:nvPr>
        </p:nvSpPr>
        <p:spPr/>
        <p:txBody>
          <a:bodyPr/>
          <a:lstStyle/>
          <a:p>
            <a:r>
              <a:rPr lang="en-US" b="1" i="0" dirty="0">
                <a:solidFill>
                  <a:srgbClr val="FF0000"/>
                </a:solidFill>
                <a:effectLst/>
                <a:latin typeface="Roboto" panose="02000000000000000000" pitchFamily="2" charset="0"/>
              </a:rPr>
              <a:t>Power BI Dashboard Project</a:t>
            </a:r>
            <a:endParaRPr lang="en-US" dirty="0">
              <a:solidFill>
                <a:srgbClr val="FF0000"/>
              </a:solidFill>
            </a:endParaRPr>
          </a:p>
        </p:txBody>
      </p:sp>
      <p:sp>
        <p:nvSpPr>
          <p:cNvPr id="3" name="Content Placeholder 2">
            <a:extLst>
              <a:ext uri="{FF2B5EF4-FFF2-40B4-BE49-F238E27FC236}">
                <a16:creationId xmlns:a16="http://schemas.microsoft.com/office/drawing/2014/main" id="{B01BE5AE-D8F5-449E-B9C1-0B7C848CA2FF}"/>
              </a:ext>
            </a:extLst>
          </p:cNvPr>
          <p:cNvSpPr>
            <a:spLocks noGrp="1"/>
          </p:cNvSpPr>
          <p:nvPr>
            <p:ph idx="1"/>
          </p:nvPr>
        </p:nvSpPr>
        <p:spPr/>
        <p:txBody>
          <a:bodyPr/>
          <a:lstStyle/>
          <a:p>
            <a:r>
              <a:rPr lang="en-US" dirty="0"/>
              <a:t>Data load</a:t>
            </a:r>
          </a:p>
          <a:p>
            <a:r>
              <a:rPr lang="en-US" dirty="0"/>
              <a:t>Transform data</a:t>
            </a:r>
          </a:p>
          <a:p>
            <a:endParaRPr lang="en-US" dirty="0"/>
          </a:p>
        </p:txBody>
      </p:sp>
      <p:pic>
        <p:nvPicPr>
          <p:cNvPr id="5" name="Picture 4">
            <a:extLst>
              <a:ext uri="{FF2B5EF4-FFF2-40B4-BE49-F238E27FC236}">
                <a16:creationId xmlns:a16="http://schemas.microsoft.com/office/drawing/2014/main" id="{FA9921E4-5759-4CAC-92D9-EDD732858FD0}"/>
              </a:ext>
            </a:extLst>
          </p:cNvPr>
          <p:cNvPicPr>
            <a:picLocks noChangeAspect="1"/>
          </p:cNvPicPr>
          <p:nvPr/>
        </p:nvPicPr>
        <p:blipFill>
          <a:blip r:embed="rId2"/>
          <a:stretch>
            <a:fillRect/>
          </a:stretch>
        </p:blipFill>
        <p:spPr>
          <a:xfrm>
            <a:off x="4794329" y="1348443"/>
            <a:ext cx="7009361" cy="4161113"/>
          </a:xfrm>
          <a:prstGeom prst="rect">
            <a:avLst/>
          </a:prstGeom>
        </p:spPr>
      </p:pic>
    </p:spTree>
    <p:extLst>
      <p:ext uri="{BB962C8B-B14F-4D97-AF65-F5344CB8AC3E}">
        <p14:creationId xmlns:p14="http://schemas.microsoft.com/office/powerpoint/2010/main" val="690840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E445C-E4EA-42CE-B09B-75E4E44F81C8}"/>
              </a:ext>
            </a:extLst>
          </p:cNvPr>
          <p:cNvSpPr>
            <a:spLocks noGrp="1"/>
          </p:cNvSpPr>
          <p:nvPr>
            <p:ph type="title"/>
          </p:nvPr>
        </p:nvSpPr>
        <p:spPr>
          <a:xfrm>
            <a:off x="838200" y="365126"/>
            <a:ext cx="10515600" cy="315912"/>
          </a:xfrm>
        </p:spPr>
        <p:txBody>
          <a:bodyPr>
            <a:normAutofit fontScale="90000"/>
          </a:bodyPr>
          <a:lstStyle/>
          <a:p>
            <a:r>
              <a:rPr lang="en-US" b="1" dirty="0">
                <a:solidFill>
                  <a:srgbClr val="FF0000"/>
                </a:solidFill>
              </a:rPr>
              <a:t>Null Value check</a:t>
            </a:r>
          </a:p>
        </p:txBody>
      </p:sp>
      <p:pic>
        <p:nvPicPr>
          <p:cNvPr id="5" name="Content Placeholder 4">
            <a:extLst>
              <a:ext uri="{FF2B5EF4-FFF2-40B4-BE49-F238E27FC236}">
                <a16:creationId xmlns:a16="http://schemas.microsoft.com/office/drawing/2014/main" id="{944C29C9-B787-4896-8619-290D4C3D9E6B}"/>
              </a:ext>
            </a:extLst>
          </p:cNvPr>
          <p:cNvPicPr>
            <a:picLocks noGrp="1" noChangeAspect="1"/>
          </p:cNvPicPr>
          <p:nvPr>
            <p:ph idx="1"/>
          </p:nvPr>
        </p:nvPicPr>
        <p:blipFill>
          <a:blip r:embed="rId2"/>
          <a:stretch>
            <a:fillRect/>
          </a:stretch>
        </p:blipFill>
        <p:spPr>
          <a:xfrm>
            <a:off x="1042493" y="876169"/>
            <a:ext cx="3629212" cy="5105662"/>
          </a:xfrm>
        </p:spPr>
      </p:pic>
    </p:spTree>
    <p:extLst>
      <p:ext uri="{BB962C8B-B14F-4D97-AF65-F5344CB8AC3E}">
        <p14:creationId xmlns:p14="http://schemas.microsoft.com/office/powerpoint/2010/main" val="2736700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761B2-7429-46D5-A896-C1B769F258F3}"/>
              </a:ext>
            </a:extLst>
          </p:cNvPr>
          <p:cNvSpPr>
            <a:spLocks noGrp="1"/>
          </p:cNvSpPr>
          <p:nvPr>
            <p:ph type="title"/>
          </p:nvPr>
        </p:nvSpPr>
        <p:spPr>
          <a:xfrm>
            <a:off x="838200" y="365125"/>
            <a:ext cx="10515600" cy="987223"/>
          </a:xfrm>
        </p:spPr>
        <p:txBody>
          <a:bodyPr>
            <a:normAutofit fontScale="90000"/>
          </a:bodyPr>
          <a:lstStyle/>
          <a:p>
            <a:r>
              <a:rPr lang="en-US" b="1" dirty="0">
                <a:solidFill>
                  <a:srgbClr val="FF0000"/>
                </a:solidFill>
              </a:rPr>
              <a:t>Table view (Data type </a:t>
            </a:r>
            <a:r>
              <a:rPr lang="en-US" b="1" dirty="0" err="1">
                <a:solidFill>
                  <a:srgbClr val="FF0000"/>
                </a:solidFill>
              </a:rPr>
              <a:t>dekhna</a:t>
            </a:r>
            <a:r>
              <a:rPr lang="en-US" b="1" dirty="0">
                <a:solidFill>
                  <a:srgbClr val="FF0000"/>
                </a:solidFill>
              </a:rPr>
              <a:t> ho)  </a:t>
            </a:r>
            <a:br>
              <a:rPr lang="en-US" b="1" dirty="0">
                <a:solidFill>
                  <a:srgbClr val="FF0000"/>
                </a:solidFill>
              </a:rPr>
            </a:br>
            <a:r>
              <a:rPr lang="en-US" b="1" dirty="0">
                <a:solidFill>
                  <a:srgbClr val="FF0000"/>
                </a:solidFill>
              </a:rPr>
              <a:t>New col add </a:t>
            </a:r>
            <a:r>
              <a:rPr lang="en-US" b="1" dirty="0" err="1">
                <a:solidFill>
                  <a:srgbClr val="FF0000"/>
                </a:solidFill>
              </a:rPr>
              <a:t>karn</a:t>
            </a:r>
            <a:r>
              <a:rPr lang="en-US" b="1" dirty="0">
                <a:solidFill>
                  <a:srgbClr val="FF0000"/>
                </a:solidFill>
              </a:rPr>
              <a:t> a (text =[amount]*[qty])</a:t>
            </a:r>
          </a:p>
        </p:txBody>
      </p:sp>
      <p:pic>
        <p:nvPicPr>
          <p:cNvPr id="5" name="Content Placeholder 4">
            <a:extLst>
              <a:ext uri="{FF2B5EF4-FFF2-40B4-BE49-F238E27FC236}">
                <a16:creationId xmlns:a16="http://schemas.microsoft.com/office/drawing/2014/main" id="{B9575CD1-6FD0-4E94-B60E-56FF53F47D4F}"/>
              </a:ext>
            </a:extLst>
          </p:cNvPr>
          <p:cNvPicPr>
            <a:picLocks noGrp="1" noChangeAspect="1"/>
          </p:cNvPicPr>
          <p:nvPr>
            <p:ph idx="1"/>
          </p:nvPr>
        </p:nvPicPr>
        <p:blipFill>
          <a:blip r:embed="rId2"/>
          <a:stretch>
            <a:fillRect/>
          </a:stretch>
        </p:blipFill>
        <p:spPr>
          <a:xfrm>
            <a:off x="588938" y="2131680"/>
            <a:ext cx="6162992" cy="4153113"/>
          </a:xfrm>
        </p:spPr>
      </p:pic>
      <p:pic>
        <p:nvPicPr>
          <p:cNvPr id="7" name="Picture 6">
            <a:extLst>
              <a:ext uri="{FF2B5EF4-FFF2-40B4-BE49-F238E27FC236}">
                <a16:creationId xmlns:a16="http://schemas.microsoft.com/office/drawing/2014/main" id="{2D4325AE-DF38-4957-8060-163193DD9EEE}"/>
              </a:ext>
            </a:extLst>
          </p:cNvPr>
          <p:cNvPicPr>
            <a:picLocks noChangeAspect="1"/>
          </p:cNvPicPr>
          <p:nvPr/>
        </p:nvPicPr>
        <p:blipFill>
          <a:blip r:embed="rId3"/>
          <a:stretch>
            <a:fillRect/>
          </a:stretch>
        </p:blipFill>
        <p:spPr>
          <a:xfrm>
            <a:off x="5981424" y="2832612"/>
            <a:ext cx="5372376" cy="2829070"/>
          </a:xfrm>
          <a:prstGeom prst="rect">
            <a:avLst/>
          </a:prstGeom>
        </p:spPr>
      </p:pic>
    </p:spTree>
    <p:extLst>
      <p:ext uri="{BB962C8B-B14F-4D97-AF65-F5344CB8AC3E}">
        <p14:creationId xmlns:p14="http://schemas.microsoft.com/office/powerpoint/2010/main" val="1220315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2300-1DA7-432C-880D-F8C095257837}"/>
              </a:ext>
            </a:extLst>
          </p:cNvPr>
          <p:cNvSpPr>
            <a:spLocks noGrp="1"/>
          </p:cNvSpPr>
          <p:nvPr>
            <p:ph type="title"/>
          </p:nvPr>
        </p:nvSpPr>
        <p:spPr>
          <a:xfrm>
            <a:off x="838200" y="365126"/>
            <a:ext cx="10515600" cy="799532"/>
          </a:xfrm>
        </p:spPr>
        <p:txBody>
          <a:bodyPr/>
          <a:lstStyle/>
          <a:p>
            <a:r>
              <a:rPr lang="en-US" b="1" dirty="0">
                <a:solidFill>
                  <a:srgbClr val="FF0000"/>
                </a:solidFill>
              </a:rPr>
              <a:t>Model View</a:t>
            </a:r>
          </a:p>
        </p:txBody>
      </p:sp>
      <p:pic>
        <p:nvPicPr>
          <p:cNvPr id="5" name="Content Placeholder 4">
            <a:extLst>
              <a:ext uri="{FF2B5EF4-FFF2-40B4-BE49-F238E27FC236}">
                <a16:creationId xmlns:a16="http://schemas.microsoft.com/office/drawing/2014/main" id="{F5E4E842-6FBD-4251-8565-82FAE026F019}"/>
              </a:ext>
            </a:extLst>
          </p:cNvPr>
          <p:cNvPicPr>
            <a:picLocks noGrp="1" noChangeAspect="1"/>
          </p:cNvPicPr>
          <p:nvPr>
            <p:ph idx="1"/>
          </p:nvPr>
        </p:nvPicPr>
        <p:blipFill>
          <a:blip r:embed="rId2"/>
          <a:stretch>
            <a:fillRect/>
          </a:stretch>
        </p:blipFill>
        <p:spPr>
          <a:xfrm>
            <a:off x="868713" y="1419726"/>
            <a:ext cx="10041523" cy="4393165"/>
          </a:xfrm>
        </p:spPr>
      </p:pic>
    </p:spTree>
    <p:extLst>
      <p:ext uri="{BB962C8B-B14F-4D97-AF65-F5344CB8AC3E}">
        <p14:creationId xmlns:p14="http://schemas.microsoft.com/office/powerpoint/2010/main" val="852240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4BE63-7386-474A-8E99-B1A3EBF559A3}"/>
              </a:ext>
            </a:extLst>
          </p:cNvPr>
          <p:cNvSpPr>
            <a:spLocks noGrp="1"/>
          </p:cNvSpPr>
          <p:nvPr>
            <p:ph type="title"/>
          </p:nvPr>
        </p:nvSpPr>
        <p:spPr>
          <a:xfrm>
            <a:off x="838200" y="365126"/>
            <a:ext cx="10515600" cy="693654"/>
          </a:xfrm>
        </p:spPr>
        <p:txBody>
          <a:bodyPr>
            <a:normAutofit fontScale="90000"/>
          </a:bodyPr>
          <a:lstStyle/>
          <a:p>
            <a:r>
              <a:rPr lang="en-US" b="1" dirty="0">
                <a:solidFill>
                  <a:srgbClr val="FF0000"/>
                </a:solidFill>
              </a:rPr>
              <a:t>1. One-to-One (1 : 1)</a:t>
            </a:r>
          </a:p>
        </p:txBody>
      </p:sp>
      <p:sp>
        <p:nvSpPr>
          <p:cNvPr id="3" name="Content Placeholder 2">
            <a:extLst>
              <a:ext uri="{FF2B5EF4-FFF2-40B4-BE49-F238E27FC236}">
                <a16:creationId xmlns:a16="http://schemas.microsoft.com/office/drawing/2014/main" id="{8947885F-9538-477D-8CC4-B1B2A60CBD27}"/>
              </a:ext>
            </a:extLst>
          </p:cNvPr>
          <p:cNvSpPr>
            <a:spLocks noGrp="1"/>
          </p:cNvSpPr>
          <p:nvPr>
            <p:ph idx="1"/>
          </p:nvPr>
        </p:nvSpPr>
        <p:spPr>
          <a:xfrm>
            <a:off x="938462" y="1294598"/>
            <a:ext cx="10809172" cy="5198276"/>
          </a:xfrm>
        </p:spPr>
        <p:txBody>
          <a:bodyPr>
            <a:normAutofit fontScale="92500" lnSpcReduction="10000"/>
          </a:bodyPr>
          <a:lstStyle/>
          <a:p>
            <a:r>
              <a:rPr lang="en-US" dirty="0" err="1"/>
              <a:t>Ek</a:t>
            </a:r>
            <a:r>
              <a:rPr lang="en-US" dirty="0"/>
              <a:t> ka </a:t>
            </a:r>
            <a:r>
              <a:rPr lang="en-US" dirty="0" err="1"/>
              <a:t>ek</a:t>
            </a:r>
            <a:endParaRPr lang="en-US" dirty="0"/>
          </a:p>
          <a:p>
            <a:endParaRPr lang="en-US" dirty="0"/>
          </a:p>
          <a:p>
            <a:r>
              <a:rPr lang="en-US" dirty="0"/>
              <a:t>Example:</a:t>
            </a:r>
          </a:p>
          <a:p>
            <a:endParaRPr lang="en-US" dirty="0"/>
          </a:p>
          <a:p>
            <a:r>
              <a:rPr lang="en-US" dirty="0"/>
              <a:t>Employee  →  Employee Details</a:t>
            </a:r>
          </a:p>
          <a:p>
            <a:endParaRPr lang="en-US" dirty="0"/>
          </a:p>
          <a:p>
            <a:r>
              <a:rPr lang="en-US" dirty="0"/>
              <a:t>1 Employee → 1 Detail</a:t>
            </a:r>
          </a:p>
          <a:p>
            <a:endParaRPr lang="en-US" dirty="0"/>
          </a:p>
          <a:p>
            <a:r>
              <a:rPr lang="en-US" dirty="0" err="1"/>
              <a:t>Matlab</a:t>
            </a:r>
            <a:r>
              <a:rPr lang="en-US" dirty="0"/>
              <a:t> </a:t>
            </a:r>
            <a:r>
              <a:rPr lang="en-US" dirty="0" err="1"/>
              <a:t>dono</a:t>
            </a:r>
            <a:r>
              <a:rPr lang="en-US" dirty="0"/>
              <a:t> tables </a:t>
            </a:r>
            <a:r>
              <a:rPr lang="en-US" dirty="0" err="1"/>
              <a:t>mein</a:t>
            </a:r>
            <a:r>
              <a:rPr lang="en-US" dirty="0"/>
              <a:t> ID unique </a:t>
            </a:r>
            <a:r>
              <a:rPr lang="en-US" dirty="0" err="1"/>
              <a:t>hai</a:t>
            </a:r>
            <a:r>
              <a:rPr lang="en-US" dirty="0"/>
              <a:t>.</a:t>
            </a:r>
          </a:p>
          <a:p>
            <a:endParaRPr lang="en-US" dirty="0"/>
          </a:p>
          <a:p>
            <a:r>
              <a:rPr lang="en-US" dirty="0"/>
              <a:t>👉 Example: Employee 101 ka </a:t>
            </a:r>
            <a:r>
              <a:rPr lang="en-US" dirty="0" err="1"/>
              <a:t>sirf</a:t>
            </a:r>
            <a:r>
              <a:rPr lang="en-US" dirty="0"/>
              <a:t> </a:t>
            </a:r>
            <a:r>
              <a:rPr lang="en-US" dirty="0" err="1"/>
              <a:t>ek</a:t>
            </a:r>
            <a:r>
              <a:rPr lang="en-US" dirty="0"/>
              <a:t> profile </a:t>
            </a:r>
            <a:r>
              <a:rPr lang="en-US" dirty="0" err="1"/>
              <a:t>hai</a:t>
            </a:r>
            <a:r>
              <a:rPr lang="en-US" dirty="0"/>
              <a:t>.</a:t>
            </a:r>
          </a:p>
        </p:txBody>
      </p:sp>
    </p:spTree>
    <p:extLst>
      <p:ext uri="{BB962C8B-B14F-4D97-AF65-F5344CB8AC3E}">
        <p14:creationId xmlns:p14="http://schemas.microsoft.com/office/powerpoint/2010/main" val="737846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06FF6-1A8A-496A-9AD2-DD43510CBE9F}"/>
              </a:ext>
            </a:extLst>
          </p:cNvPr>
          <p:cNvSpPr>
            <a:spLocks noGrp="1"/>
          </p:cNvSpPr>
          <p:nvPr>
            <p:ph type="title"/>
          </p:nvPr>
        </p:nvSpPr>
        <p:spPr>
          <a:xfrm>
            <a:off x="838200" y="365126"/>
            <a:ext cx="10515600" cy="602214"/>
          </a:xfrm>
        </p:spPr>
        <p:txBody>
          <a:bodyPr>
            <a:normAutofit fontScale="90000"/>
          </a:bodyPr>
          <a:lstStyle/>
          <a:p>
            <a:r>
              <a:rPr lang="en-US" b="1" dirty="0">
                <a:solidFill>
                  <a:srgbClr val="FF0000"/>
                </a:solidFill>
              </a:rPr>
              <a:t>2. One-to-Many (1 : *)</a:t>
            </a:r>
          </a:p>
        </p:txBody>
      </p:sp>
      <p:sp>
        <p:nvSpPr>
          <p:cNvPr id="3" name="Content Placeholder 2">
            <a:extLst>
              <a:ext uri="{FF2B5EF4-FFF2-40B4-BE49-F238E27FC236}">
                <a16:creationId xmlns:a16="http://schemas.microsoft.com/office/drawing/2014/main" id="{4EABC036-1C01-4905-8EB9-61E530145FB8}"/>
              </a:ext>
            </a:extLst>
          </p:cNvPr>
          <p:cNvSpPr>
            <a:spLocks noGrp="1"/>
          </p:cNvSpPr>
          <p:nvPr>
            <p:ph idx="1"/>
          </p:nvPr>
        </p:nvSpPr>
        <p:spPr>
          <a:xfrm>
            <a:off x="976964" y="967340"/>
            <a:ext cx="10376836" cy="5209623"/>
          </a:xfrm>
        </p:spPr>
        <p:txBody>
          <a:bodyPr>
            <a:normAutofit fontScale="70000" lnSpcReduction="20000"/>
          </a:bodyPr>
          <a:lstStyle/>
          <a:p>
            <a:pPr marL="0" indent="0">
              <a:buNone/>
            </a:pPr>
            <a:r>
              <a:rPr lang="en-US" dirty="0" err="1"/>
              <a:t>Ek</a:t>
            </a:r>
            <a:r>
              <a:rPr lang="en-US" dirty="0"/>
              <a:t> </a:t>
            </a:r>
            <a:r>
              <a:rPr lang="en-US" dirty="0" err="1"/>
              <a:t>ke</a:t>
            </a:r>
            <a:r>
              <a:rPr lang="en-US" dirty="0"/>
              <a:t> bahut</a:t>
            </a:r>
          </a:p>
          <a:p>
            <a:pPr marL="0" indent="0">
              <a:buNone/>
            </a:pPr>
            <a:endParaRPr lang="en-US" dirty="0"/>
          </a:p>
          <a:p>
            <a:pPr marL="0" indent="0">
              <a:buNone/>
            </a:pPr>
            <a:r>
              <a:rPr lang="en-US" dirty="0">
                <a:solidFill>
                  <a:srgbClr val="FF0000"/>
                </a:solidFill>
              </a:rPr>
              <a:t>Example:</a:t>
            </a:r>
          </a:p>
          <a:p>
            <a:pPr marL="0" indent="0">
              <a:buNone/>
            </a:pPr>
            <a:endParaRPr lang="en-US" dirty="0"/>
          </a:p>
          <a:p>
            <a:pPr marL="0" indent="0">
              <a:buNone/>
            </a:pPr>
            <a:r>
              <a:rPr lang="en-US" dirty="0"/>
              <a:t>Customer (1)  →  Orders (*)</a:t>
            </a:r>
          </a:p>
          <a:p>
            <a:pPr marL="0" indent="0">
              <a:buNone/>
            </a:pPr>
            <a:endParaRPr lang="en-US" dirty="0"/>
          </a:p>
          <a:p>
            <a:pPr marL="0" indent="0">
              <a:buNone/>
            </a:pPr>
            <a:r>
              <a:rPr lang="en-US" dirty="0"/>
              <a:t>Rahul </a:t>
            </a:r>
            <a:r>
              <a:rPr lang="en-US" dirty="0" err="1"/>
              <a:t>ek</a:t>
            </a:r>
            <a:r>
              <a:rPr lang="en-US" dirty="0"/>
              <a:t> customer </a:t>
            </a:r>
            <a:r>
              <a:rPr lang="en-US" dirty="0" err="1"/>
              <a:t>hai</a:t>
            </a:r>
            <a:r>
              <a:rPr lang="en-US" dirty="0"/>
              <a:t>, </a:t>
            </a:r>
            <a:r>
              <a:rPr lang="en-US" dirty="0" err="1"/>
              <a:t>lekin</a:t>
            </a:r>
            <a:r>
              <a:rPr lang="en-US" dirty="0"/>
              <a:t> Rahul </a:t>
            </a:r>
            <a:r>
              <a:rPr lang="en-US" dirty="0" err="1"/>
              <a:t>ke</a:t>
            </a:r>
            <a:r>
              <a:rPr lang="en-US" dirty="0"/>
              <a:t> bahut </a:t>
            </a:r>
            <a:r>
              <a:rPr lang="en-US" dirty="0" err="1"/>
              <a:t>saare</a:t>
            </a:r>
            <a:r>
              <a:rPr lang="en-US" dirty="0"/>
              <a:t> orders ho </a:t>
            </a:r>
            <a:r>
              <a:rPr lang="en-US" dirty="0" err="1"/>
              <a:t>sakte</a:t>
            </a:r>
            <a:r>
              <a:rPr lang="en-US" dirty="0"/>
              <a:t> </a:t>
            </a:r>
            <a:r>
              <a:rPr lang="en-US" dirty="0" err="1"/>
              <a:t>hain</a:t>
            </a:r>
            <a:r>
              <a:rPr lang="en-US" dirty="0"/>
              <a:t>.</a:t>
            </a:r>
          </a:p>
          <a:p>
            <a:pPr marL="0" indent="0">
              <a:buNone/>
            </a:pPr>
            <a:endParaRPr lang="en-US" dirty="0"/>
          </a:p>
          <a:p>
            <a:pPr marL="0" indent="0">
              <a:buNone/>
            </a:pPr>
            <a:r>
              <a:rPr lang="en-US" dirty="0"/>
              <a:t>Rahul</a:t>
            </a:r>
          </a:p>
          <a:p>
            <a:pPr marL="0" indent="0">
              <a:buNone/>
            </a:pPr>
            <a:r>
              <a:rPr lang="en-US" dirty="0"/>
              <a:t> ↓</a:t>
            </a:r>
          </a:p>
          <a:p>
            <a:pPr marL="0" indent="0">
              <a:buNone/>
            </a:pPr>
            <a:r>
              <a:rPr lang="en-US" dirty="0"/>
              <a:t>Order 101</a:t>
            </a:r>
          </a:p>
          <a:p>
            <a:pPr marL="0" indent="0">
              <a:buNone/>
            </a:pPr>
            <a:r>
              <a:rPr lang="en-US" dirty="0"/>
              <a:t>Order 102</a:t>
            </a:r>
          </a:p>
          <a:p>
            <a:pPr marL="0" indent="0">
              <a:buNone/>
            </a:pPr>
            <a:r>
              <a:rPr lang="en-US" dirty="0"/>
              <a:t>Order 103</a:t>
            </a:r>
          </a:p>
          <a:p>
            <a:pPr marL="0" indent="0">
              <a:buNone/>
            </a:pPr>
            <a:endParaRPr lang="en-US" dirty="0"/>
          </a:p>
          <a:p>
            <a:pPr marL="0" indent="0">
              <a:buNone/>
            </a:pPr>
            <a:r>
              <a:rPr lang="en-US" dirty="0"/>
              <a:t>👉 1 Customer → Many Orders</a:t>
            </a:r>
          </a:p>
        </p:txBody>
      </p:sp>
    </p:spTree>
    <p:extLst>
      <p:ext uri="{BB962C8B-B14F-4D97-AF65-F5344CB8AC3E}">
        <p14:creationId xmlns:p14="http://schemas.microsoft.com/office/powerpoint/2010/main" val="2675852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2BBA4-5918-4CF3-AC93-498CD0CBEDF4}"/>
              </a:ext>
            </a:extLst>
          </p:cNvPr>
          <p:cNvSpPr>
            <a:spLocks noGrp="1"/>
          </p:cNvSpPr>
          <p:nvPr>
            <p:ph type="title"/>
          </p:nvPr>
        </p:nvSpPr>
        <p:spPr>
          <a:xfrm>
            <a:off x="838200" y="187059"/>
            <a:ext cx="10515600" cy="635902"/>
          </a:xfrm>
        </p:spPr>
        <p:txBody>
          <a:bodyPr>
            <a:normAutofit fontScale="90000"/>
          </a:bodyPr>
          <a:lstStyle/>
          <a:p>
            <a:r>
              <a:rPr lang="en-US" b="1" dirty="0">
                <a:solidFill>
                  <a:srgbClr val="FF0000"/>
                </a:solidFill>
              </a:rPr>
              <a:t>3. Many-to-One (* : 1)</a:t>
            </a:r>
          </a:p>
        </p:txBody>
      </p:sp>
      <p:sp>
        <p:nvSpPr>
          <p:cNvPr id="3" name="Content Placeholder 2">
            <a:extLst>
              <a:ext uri="{FF2B5EF4-FFF2-40B4-BE49-F238E27FC236}">
                <a16:creationId xmlns:a16="http://schemas.microsoft.com/office/drawing/2014/main" id="{87467F7F-01B5-452B-9794-09F4CBF06289}"/>
              </a:ext>
            </a:extLst>
          </p:cNvPr>
          <p:cNvSpPr>
            <a:spLocks noGrp="1"/>
          </p:cNvSpPr>
          <p:nvPr>
            <p:ph idx="1"/>
          </p:nvPr>
        </p:nvSpPr>
        <p:spPr>
          <a:xfrm>
            <a:off x="909586" y="885524"/>
            <a:ext cx="10444213" cy="5291439"/>
          </a:xfrm>
        </p:spPr>
        <p:txBody>
          <a:bodyPr>
            <a:normAutofit fontScale="92500" lnSpcReduction="20000"/>
          </a:bodyPr>
          <a:lstStyle/>
          <a:p>
            <a:r>
              <a:rPr lang="en-US" dirty="0"/>
              <a:t>Bahut ka </a:t>
            </a:r>
            <a:r>
              <a:rPr lang="en-US" dirty="0" err="1"/>
              <a:t>ek</a:t>
            </a:r>
            <a:endParaRPr lang="en-US" dirty="0"/>
          </a:p>
          <a:p>
            <a:endParaRPr lang="en-US" dirty="0"/>
          </a:p>
          <a:p>
            <a:r>
              <a:rPr lang="en-US" dirty="0"/>
              <a:t>Ye basically One-to-Many ka </a:t>
            </a:r>
            <a:r>
              <a:rPr lang="en-US" dirty="0" err="1"/>
              <a:t>ulta</a:t>
            </a:r>
            <a:r>
              <a:rPr lang="en-US" dirty="0"/>
              <a:t> direction </a:t>
            </a:r>
            <a:r>
              <a:rPr lang="en-US" dirty="0" err="1"/>
              <a:t>hai</a:t>
            </a:r>
            <a:r>
              <a:rPr lang="en-US" dirty="0"/>
              <a:t>.</a:t>
            </a:r>
          </a:p>
          <a:p>
            <a:endParaRPr lang="en-US" dirty="0"/>
          </a:p>
          <a:p>
            <a:r>
              <a:rPr lang="en-US" dirty="0"/>
              <a:t>Orders (*)  →  Customer (1)</a:t>
            </a:r>
          </a:p>
          <a:p>
            <a:endParaRPr lang="en-US" dirty="0"/>
          </a:p>
          <a:p>
            <a:r>
              <a:rPr lang="en-US" dirty="0"/>
              <a:t>Bahut </a:t>
            </a:r>
            <a:r>
              <a:rPr lang="en-US" dirty="0" err="1"/>
              <a:t>saare</a:t>
            </a:r>
            <a:r>
              <a:rPr lang="en-US" dirty="0"/>
              <a:t> orders </a:t>
            </a:r>
            <a:r>
              <a:rPr lang="en-US" dirty="0" err="1"/>
              <a:t>ek</a:t>
            </a:r>
            <a:r>
              <a:rPr lang="en-US" dirty="0"/>
              <a:t> customer </a:t>
            </a:r>
            <a:r>
              <a:rPr lang="en-US" dirty="0" err="1"/>
              <a:t>ke</a:t>
            </a:r>
            <a:r>
              <a:rPr lang="en-US" dirty="0"/>
              <a:t> ho </a:t>
            </a:r>
            <a:r>
              <a:rPr lang="en-US" dirty="0" err="1"/>
              <a:t>sakte</a:t>
            </a:r>
            <a:r>
              <a:rPr lang="en-US" dirty="0"/>
              <a:t> </a:t>
            </a:r>
            <a:r>
              <a:rPr lang="en-US" dirty="0" err="1"/>
              <a:t>hain</a:t>
            </a:r>
            <a:r>
              <a:rPr lang="en-US" dirty="0"/>
              <a:t>.</a:t>
            </a:r>
          </a:p>
          <a:p>
            <a:endParaRPr lang="en-US" dirty="0"/>
          </a:p>
          <a:p>
            <a:r>
              <a:rPr lang="en-US" dirty="0"/>
              <a:t>Order 101 ──┐</a:t>
            </a:r>
          </a:p>
          <a:p>
            <a:r>
              <a:rPr lang="en-US" dirty="0"/>
              <a:t>Order 102 ──┼──→ Rahul</a:t>
            </a:r>
          </a:p>
          <a:p>
            <a:r>
              <a:rPr lang="en-US" dirty="0"/>
              <a:t>Order 103 ──┘</a:t>
            </a:r>
          </a:p>
          <a:p>
            <a:endParaRPr lang="en-US" dirty="0"/>
          </a:p>
          <a:p>
            <a:r>
              <a:rPr lang="en-US" dirty="0"/>
              <a:t>👉 Many Orders → 1 Customer</a:t>
            </a:r>
          </a:p>
        </p:txBody>
      </p:sp>
    </p:spTree>
    <p:extLst>
      <p:ext uri="{BB962C8B-B14F-4D97-AF65-F5344CB8AC3E}">
        <p14:creationId xmlns:p14="http://schemas.microsoft.com/office/powerpoint/2010/main" val="2488985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4C29-4573-4D1F-9170-B313361F527C}"/>
              </a:ext>
            </a:extLst>
          </p:cNvPr>
          <p:cNvSpPr>
            <a:spLocks noGrp="1"/>
          </p:cNvSpPr>
          <p:nvPr>
            <p:ph type="title"/>
          </p:nvPr>
        </p:nvSpPr>
        <p:spPr>
          <a:xfrm>
            <a:off x="838200" y="215934"/>
            <a:ext cx="10515600" cy="544462"/>
          </a:xfrm>
        </p:spPr>
        <p:txBody>
          <a:bodyPr>
            <a:normAutofit fontScale="90000"/>
          </a:bodyPr>
          <a:lstStyle/>
          <a:p>
            <a:r>
              <a:rPr lang="en-US" b="1" dirty="0">
                <a:solidFill>
                  <a:srgbClr val="FF0000"/>
                </a:solidFill>
              </a:rPr>
              <a:t>4. Many-to-Many (* : *)</a:t>
            </a:r>
          </a:p>
        </p:txBody>
      </p:sp>
      <p:sp>
        <p:nvSpPr>
          <p:cNvPr id="3" name="Content Placeholder 2">
            <a:extLst>
              <a:ext uri="{FF2B5EF4-FFF2-40B4-BE49-F238E27FC236}">
                <a16:creationId xmlns:a16="http://schemas.microsoft.com/office/drawing/2014/main" id="{014D02D0-FBBA-4EEA-A737-1BB180ECF4B3}"/>
              </a:ext>
            </a:extLst>
          </p:cNvPr>
          <p:cNvSpPr>
            <a:spLocks noGrp="1"/>
          </p:cNvSpPr>
          <p:nvPr>
            <p:ph idx="1"/>
          </p:nvPr>
        </p:nvSpPr>
        <p:spPr>
          <a:xfrm>
            <a:off x="914400" y="1053965"/>
            <a:ext cx="10823608" cy="5443088"/>
          </a:xfrm>
        </p:spPr>
        <p:txBody>
          <a:bodyPr>
            <a:normAutofit fontScale="62500" lnSpcReduction="20000"/>
          </a:bodyPr>
          <a:lstStyle/>
          <a:p>
            <a:pPr marL="0" indent="0">
              <a:buNone/>
            </a:pPr>
            <a:r>
              <a:rPr lang="en-US" b="1" dirty="0"/>
              <a:t>Bahut </a:t>
            </a:r>
            <a:r>
              <a:rPr lang="en-US" b="1" dirty="0" err="1"/>
              <a:t>ke</a:t>
            </a:r>
            <a:r>
              <a:rPr lang="en-US" b="1" dirty="0"/>
              <a:t> bahut</a:t>
            </a:r>
          </a:p>
          <a:p>
            <a:pPr marL="0" indent="0">
              <a:buNone/>
            </a:pPr>
            <a:endParaRPr lang="en-US" b="1" dirty="0"/>
          </a:p>
          <a:p>
            <a:pPr marL="0" indent="0">
              <a:buNone/>
            </a:pPr>
            <a:r>
              <a:rPr lang="en-US" b="1" dirty="0"/>
              <a:t>Example:</a:t>
            </a:r>
          </a:p>
          <a:p>
            <a:pPr marL="0" indent="0">
              <a:buNone/>
            </a:pPr>
            <a:endParaRPr lang="en-US" b="1" dirty="0"/>
          </a:p>
          <a:p>
            <a:pPr marL="0" indent="0">
              <a:buNone/>
            </a:pPr>
            <a:r>
              <a:rPr lang="en-US" b="1" dirty="0"/>
              <a:t>Students (*)  ↔  (*) Courses</a:t>
            </a:r>
          </a:p>
          <a:p>
            <a:pPr marL="0" indent="0">
              <a:buNone/>
            </a:pPr>
            <a:endParaRPr lang="en-US" b="1" dirty="0"/>
          </a:p>
          <a:p>
            <a:pPr marL="0" indent="0">
              <a:buNone/>
            </a:pPr>
            <a:r>
              <a:rPr lang="en-US" b="1" dirty="0" err="1"/>
              <a:t>Ek</a:t>
            </a:r>
            <a:r>
              <a:rPr lang="en-US" b="1" dirty="0"/>
              <a:t> student multiple courses </a:t>
            </a:r>
            <a:r>
              <a:rPr lang="en-US" b="1" dirty="0" err="1"/>
              <a:t>kar</a:t>
            </a:r>
            <a:r>
              <a:rPr lang="en-US" b="1" dirty="0"/>
              <a:t> </a:t>
            </a:r>
            <a:r>
              <a:rPr lang="en-US" b="1" dirty="0" err="1"/>
              <a:t>sakta</a:t>
            </a:r>
            <a:r>
              <a:rPr lang="en-US" b="1" dirty="0"/>
              <a:t> </a:t>
            </a:r>
            <a:r>
              <a:rPr lang="en-US" b="1" dirty="0" err="1"/>
              <a:t>hai</a:t>
            </a:r>
            <a:r>
              <a:rPr lang="en-US" b="1" dirty="0"/>
              <a:t>.</a:t>
            </a:r>
          </a:p>
          <a:p>
            <a:pPr marL="0" indent="0">
              <a:buNone/>
            </a:pPr>
            <a:endParaRPr lang="en-US" b="1" dirty="0"/>
          </a:p>
          <a:p>
            <a:pPr marL="0" indent="0">
              <a:buNone/>
            </a:pPr>
            <a:r>
              <a:rPr lang="en-US" b="1" dirty="0"/>
              <a:t>Aur </a:t>
            </a:r>
            <a:r>
              <a:rPr lang="en-US" b="1" dirty="0" err="1"/>
              <a:t>ek</a:t>
            </a:r>
            <a:r>
              <a:rPr lang="en-US" b="1" dirty="0"/>
              <a:t> course ko multiple students </a:t>
            </a:r>
            <a:r>
              <a:rPr lang="en-US" b="1" dirty="0" err="1"/>
              <a:t>kar</a:t>
            </a:r>
            <a:r>
              <a:rPr lang="en-US" b="1" dirty="0"/>
              <a:t> </a:t>
            </a:r>
            <a:r>
              <a:rPr lang="en-US" b="1" dirty="0" err="1"/>
              <a:t>sakte</a:t>
            </a:r>
            <a:r>
              <a:rPr lang="en-US" b="1" dirty="0"/>
              <a:t> </a:t>
            </a:r>
            <a:r>
              <a:rPr lang="en-US" b="1" dirty="0" err="1"/>
              <a:t>hain</a:t>
            </a:r>
            <a:r>
              <a:rPr lang="en-US" b="1" dirty="0"/>
              <a:t>.</a:t>
            </a:r>
          </a:p>
          <a:p>
            <a:pPr marL="0" indent="0">
              <a:buNone/>
            </a:pPr>
            <a:endParaRPr lang="en-US" b="1" dirty="0"/>
          </a:p>
          <a:p>
            <a:pPr marL="0" indent="0">
              <a:buNone/>
            </a:pPr>
            <a:r>
              <a:rPr lang="en-US" b="1" dirty="0"/>
              <a:t>Rahul → Python</a:t>
            </a:r>
          </a:p>
          <a:p>
            <a:pPr marL="0" indent="0">
              <a:buNone/>
            </a:pPr>
            <a:r>
              <a:rPr lang="en-US" b="1" dirty="0"/>
              <a:t>Rahul → SQL</a:t>
            </a:r>
          </a:p>
          <a:p>
            <a:pPr marL="0" indent="0">
              <a:buNone/>
            </a:pPr>
            <a:endParaRPr lang="en-US" b="1" dirty="0"/>
          </a:p>
          <a:p>
            <a:pPr marL="0" indent="0">
              <a:buNone/>
            </a:pPr>
            <a:r>
              <a:rPr lang="en-US" b="1" dirty="0"/>
              <a:t>Amit → SQL</a:t>
            </a:r>
          </a:p>
          <a:p>
            <a:pPr marL="0" indent="0">
              <a:buNone/>
            </a:pPr>
            <a:r>
              <a:rPr lang="en-US" b="1" dirty="0"/>
              <a:t>Amit → Power BI</a:t>
            </a:r>
          </a:p>
          <a:p>
            <a:pPr marL="0" indent="0">
              <a:buNone/>
            </a:pPr>
            <a:endParaRPr lang="en-US" b="1" dirty="0"/>
          </a:p>
          <a:p>
            <a:pPr marL="0" indent="0">
              <a:buNone/>
            </a:pPr>
            <a:r>
              <a:rPr lang="en-US" b="1" dirty="0"/>
              <a:t>👉 Many Students ↔ Many Courses</a:t>
            </a:r>
          </a:p>
        </p:txBody>
      </p:sp>
    </p:spTree>
    <p:extLst>
      <p:ext uri="{BB962C8B-B14F-4D97-AF65-F5344CB8AC3E}">
        <p14:creationId xmlns:p14="http://schemas.microsoft.com/office/powerpoint/2010/main" val="2807105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728E-BD43-483A-9AA5-E1A16F70649C}"/>
              </a:ext>
            </a:extLst>
          </p:cNvPr>
          <p:cNvSpPr>
            <a:spLocks noGrp="1"/>
          </p:cNvSpPr>
          <p:nvPr>
            <p:ph type="title"/>
          </p:nvPr>
        </p:nvSpPr>
        <p:spPr>
          <a:xfrm>
            <a:off x="838200" y="365125"/>
            <a:ext cx="10515600" cy="703279"/>
          </a:xfrm>
        </p:spPr>
        <p:txBody>
          <a:bodyPr/>
          <a:lstStyle/>
          <a:p>
            <a:r>
              <a:rPr lang="es-ES" b="1" dirty="0">
                <a:solidFill>
                  <a:srgbClr val="FF0000"/>
                </a:solidFill>
              </a:rPr>
              <a:t>Bas ye 4 line yaad kar lo</a:t>
            </a:r>
            <a:endParaRPr lang="en-US" b="1" dirty="0">
              <a:solidFill>
                <a:srgbClr val="FF0000"/>
              </a:solidFill>
            </a:endParaRPr>
          </a:p>
        </p:txBody>
      </p:sp>
      <p:pic>
        <p:nvPicPr>
          <p:cNvPr id="5" name="Content Placeholder 4">
            <a:extLst>
              <a:ext uri="{FF2B5EF4-FFF2-40B4-BE49-F238E27FC236}">
                <a16:creationId xmlns:a16="http://schemas.microsoft.com/office/drawing/2014/main" id="{6F78469F-AD8E-4C14-AF06-88AC5B8FFEA4}"/>
              </a:ext>
            </a:extLst>
          </p:cNvPr>
          <p:cNvPicPr>
            <a:picLocks noGrp="1" noChangeAspect="1"/>
          </p:cNvPicPr>
          <p:nvPr>
            <p:ph idx="1"/>
          </p:nvPr>
        </p:nvPicPr>
        <p:blipFill>
          <a:blip r:embed="rId2"/>
          <a:stretch>
            <a:fillRect/>
          </a:stretch>
        </p:blipFill>
        <p:spPr>
          <a:xfrm>
            <a:off x="750068" y="1150219"/>
            <a:ext cx="8155652" cy="3133631"/>
          </a:xfrm>
        </p:spPr>
      </p:pic>
    </p:spTree>
    <p:extLst>
      <p:ext uri="{BB962C8B-B14F-4D97-AF65-F5344CB8AC3E}">
        <p14:creationId xmlns:p14="http://schemas.microsoft.com/office/powerpoint/2010/main" val="1130278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108C4-6EAE-4DB0-8211-4E46B74190D8}"/>
              </a:ext>
            </a:extLst>
          </p:cNvPr>
          <p:cNvSpPr>
            <a:spLocks noGrp="1"/>
          </p:cNvSpPr>
          <p:nvPr>
            <p:ph type="title"/>
          </p:nvPr>
        </p:nvSpPr>
        <p:spPr>
          <a:xfrm>
            <a:off x="838200" y="365126"/>
            <a:ext cx="10515600" cy="645528"/>
          </a:xfrm>
        </p:spPr>
        <p:txBody>
          <a:bodyPr>
            <a:normAutofit fontScale="90000"/>
          </a:bodyPr>
          <a:lstStyle/>
          <a:p>
            <a:r>
              <a:rPr lang="en-US" b="1" dirty="0">
                <a:solidFill>
                  <a:srgbClr val="FF0000"/>
                </a:solidFill>
              </a:rPr>
              <a:t>Many-to-One (* : 1) </a:t>
            </a:r>
            <a:r>
              <a:rPr lang="en-US" b="1" dirty="0" err="1">
                <a:solidFill>
                  <a:srgbClr val="FF0000"/>
                </a:solidFill>
              </a:rPr>
              <a:t>kya</a:t>
            </a:r>
            <a:r>
              <a:rPr lang="en-US" b="1" dirty="0">
                <a:solidFill>
                  <a:srgbClr val="FF0000"/>
                </a:solidFill>
              </a:rPr>
              <a:t> </a:t>
            </a:r>
            <a:r>
              <a:rPr lang="en-US" b="1" dirty="0" err="1">
                <a:solidFill>
                  <a:srgbClr val="FF0000"/>
                </a:solidFill>
              </a:rPr>
              <a:t>hota</a:t>
            </a:r>
            <a:r>
              <a:rPr lang="en-US" b="1" dirty="0">
                <a:solidFill>
                  <a:srgbClr val="FF0000"/>
                </a:solidFill>
              </a:rPr>
              <a:t> </a:t>
            </a:r>
            <a:r>
              <a:rPr lang="en-US" b="1" dirty="0" err="1">
                <a:solidFill>
                  <a:srgbClr val="FF0000"/>
                </a:solidFill>
              </a:rPr>
              <a:t>hai</a:t>
            </a:r>
            <a:r>
              <a:rPr lang="en-US" b="1" dirty="0">
                <a:solidFill>
                  <a:srgbClr val="FF0000"/>
                </a:solidFill>
              </a:rPr>
              <a:t>?</a:t>
            </a:r>
            <a:br>
              <a:rPr lang="en-US" b="1" dirty="0">
                <a:solidFill>
                  <a:srgbClr val="FF0000"/>
                </a:solidFill>
              </a:rPr>
            </a:br>
            <a:endParaRPr lang="en-US" dirty="0">
              <a:solidFill>
                <a:srgbClr val="FF0000"/>
              </a:solidFill>
            </a:endParaRPr>
          </a:p>
        </p:txBody>
      </p:sp>
      <p:sp>
        <p:nvSpPr>
          <p:cNvPr id="3" name="Content Placeholder 2">
            <a:extLst>
              <a:ext uri="{FF2B5EF4-FFF2-40B4-BE49-F238E27FC236}">
                <a16:creationId xmlns:a16="http://schemas.microsoft.com/office/drawing/2014/main" id="{C1E0EC20-1620-4DD3-8DD8-ABD752C016EA}"/>
              </a:ext>
            </a:extLst>
          </p:cNvPr>
          <p:cNvSpPr>
            <a:spLocks noGrp="1"/>
          </p:cNvSpPr>
          <p:nvPr>
            <p:ph idx="1"/>
          </p:nvPr>
        </p:nvSpPr>
        <p:spPr>
          <a:xfrm>
            <a:off x="726707" y="827773"/>
            <a:ext cx="10627093" cy="5349190"/>
          </a:xfrm>
        </p:spPr>
        <p:txBody>
          <a:bodyPr/>
          <a:lstStyle/>
          <a:p>
            <a:r>
              <a:rPr lang="en-US" dirty="0"/>
              <a:t>Power BI </a:t>
            </a:r>
            <a:r>
              <a:rPr lang="en-US" dirty="0" err="1"/>
              <a:t>mein</a:t>
            </a:r>
            <a:r>
              <a:rPr lang="en-US" dirty="0"/>
              <a:t> Many-to-One ka </a:t>
            </a:r>
            <a:r>
              <a:rPr lang="en-US" dirty="0" err="1"/>
              <a:t>matlab</a:t>
            </a:r>
            <a:r>
              <a:rPr lang="en-US" dirty="0"/>
              <a:t> </a:t>
            </a:r>
            <a:r>
              <a:rPr lang="en-US" dirty="0" err="1"/>
              <a:t>hai</a:t>
            </a:r>
            <a:r>
              <a:rPr lang="en-US" dirty="0"/>
              <a:t>:</a:t>
            </a:r>
          </a:p>
          <a:p>
            <a:r>
              <a:rPr lang="en-US" dirty="0" err="1"/>
              <a:t>Ek</a:t>
            </a:r>
            <a:r>
              <a:rPr lang="en-US" dirty="0"/>
              <a:t> table </a:t>
            </a:r>
            <a:r>
              <a:rPr lang="en-US" dirty="0" err="1"/>
              <a:t>mein</a:t>
            </a:r>
            <a:r>
              <a:rPr lang="en-US" dirty="0"/>
              <a:t> same value bahut </a:t>
            </a:r>
            <a:r>
              <a:rPr lang="en-US" dirty="0" err="1"/>
              <a:t>baar</a:t>
            </a:r>
            <a:r>
              <a:rPr lang="en-US" dirty="0"/>
              <a:t> aa </a:t>
            </a:r>
            <a:r>
              <a:rPr lang="en-US" dirty="0" err="1"/>
              <a:t>sakti</a:t>
            </a:r>
            <a:r>
              <a:rPr lang="en-US" dirty="0"/>
              <a:t> </a:t>
            </a:r>
            <a:r>
              <a:rPr lang="en-US" dirty="0" err="1"/>
              <a:t>hai</a:t>
            </a:r>
            <a:r>
              <a:rPr lang="en-US" dirty="0"/>
              <a:t>, aur </a:t>
            </a:r>
            <a:r>
              <a:rPr lang="en-US" dirty="0" err="1"/>
              <a:t>doosri</a:t>
            </a:r>
            <a:r>
              <a:rPr lang="en-US" dirty="0"/>
              <a:t> table </a:t>
            </a:r>
            <a:r>
              <a:rPr lang="en-US" dirty="0" err="1"/>
              <a:t>mein</a:t>
            </a:r>
            <a:r>
              <a:rPr lang="en-US" dirty="0"/>
              <a:t> </a:t>
            </a:r>
            <a:r>
              <a:rPr lang="en-US" dirty="0" err="1"/>
              <a:t>wahi</a:t>
            </a:r>
            <a:r>
              <a:rPr lang="en-US" dirty="0"/>
              <a:t> value </a:t>
            </a:r>
            <a:r>
              <a:rPr lang="en-US" dirty="0" err="1"/>
              <a:t>sirf</a:t>
            </a:r>
            <a:r>
              <a:rPr lang="en-US" dirty="0"/>
              <a:t> </a:t>
            </a:r>
            <a:r>
              <a:rPr lang="en-US" dirty="0" err="1"/>
              <a:t>ek</a:t>
            </a:r>
            <a:r>
              <a:rPr lang="en-US" dirty="0"/>
              <a:t> </a:t>
            </a:r>
            <a:r>
              <a:rPr lang="en-US" dirty="0" err="1"/>
              <a:t>baar</a:t>
            </a:r>
            <a:r>
              <a:rPr lang="en-US" dirty="0"/>
              <a:t> </a:t>
            </a:r>
            <a:r>
              <a:rPr lang="en-US" dirty="0" err="1"/>
              <a:t>hoti</a:t>
            </a:r>
            <a:r>
              <a:rPr lang="en-US" dirty="0"/>
              <a:t> </a:t>
            </a:r>
            <a:r>
              <a:rPr lang="en-US" dirty="0" err="1"/>
              <a:t>hai</a:t>
            </a:r>
            <a:r>
              <a:rPr lang="en-US" dirty="0"/>
              <a:t>.</a:t>
            </a:r>
          </a:p>
          <a:p>
            <a:r>
              <a:rPr lang="fi-FI" dirty="0"/>
              <a:t>Yahan P01 3 baar aa raha hai. </a:t>
            </a:r>
          </a:p>
          <a:p>
            <a:r>
              <a:rPr lang="fi-FI" dirty="0"/>
              <a:t>(</a:t>
            </a:r>
            <a:r>
              <a:rPr lang="en-US" dirty="0"/>
              <a:t>Sales Table)</a:t>
            </a:r>
            <a:endParaRPr lang="fi-FI" dirty="0"/>
          </a:p>
          <a:p>
            <a:endParaRPr lang="fi-FI" dirty="0"/>
          </a:p>
          <a:p>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0ED0A79F-DDEE-47D3-BD13-79CF3EC5C551}"/>
              </a:ext>
            </a:extLst>
          </p:cNvPr>
          <p:cNvGraphicFramePr>
            <a:graphicFrameLocks noGrp="1"/>
          </p:cNvGraphicFramePr>
          <p:nvPr>
            <p:extLst>
              <p:ext uri="{D42A27DB-BD31-4B8C-83A1-F6EECF244321}">
                <p14:modId xmlns:p14="http://schemas.microsoft.com/office/powerpoint/2010/main" val="1031536517"/>
              </p:ext>
            </p:extLst>
          </p:nvPr>
        </p:nvGraphicFramePr>
        <p:xfrm>
          <a:off x="838200" y="3794985"/>
          <a:ext cx="10515600" cy="2697889"/>
        </p:xfrm>
        <a:graphic>
          <a:graphicData uri="http://schemas.openxmlformats.org/drawingml/2006/table">
            <a:tbl>
              <a:tblPr/>
              <a:tblGrid>
                <a:gridCol w="3505200">
                  <a:extLst>
                    <a:ext uri="{9D8B030D-6E8A-4147-A177-3AD203B41FA5}">
                      <a16:colId xmlns:a16="http://schemas.microsoft.com/office/drawing/2014/main" val="3682689276"/>
                    </a:ext>
                  </a:extLst>
                </a:gridCol>
                <a:gridCol w="3505200">
                  <a:extLst>
                    <a:ext uri="{9D8B030D-6E8A-4147-A177-3AD203B41FA5}">
                      <a16:colId xmlns:a16="http://schemas.microsoft.com/office/drawing/2014/main" val="3928802480"/>
                    </a:ext>
                  </a:extLst>
                </a:gridCol>
                <a:gridCol w="3505200">
                  <a:extLst>
                    <a:ext uri="{9D8B030D-6E8A-4147-A177-3AD203B41FA5}">
                      <a16:colId xmlns:a16="http://schemas.microsoft.com/office/drawing/2014/main" val="4188518660"/>
                    </a:ext>
                  </a:extLst>
                </a:gridCol>
              </a:tblGrid>
              <a:tr h="0">
                <a:tc>
                  <a:txBody>
                    <a:bodyPr/>
                    <a:lstStyle/>
                    <a:p>
                      <a:r>
                        <a:rPr lang="en-US"/>
                        <a:t>Order_ID</a:t>
                      </a:r>
                    </a:p>
                  </a:txBody>
                  <a:tcPr anchor="ctr">
                    <a:lnL>
                      <a:noFill/>
                    </a:lnL>
                    <a:lnR>
                      <a:noFill/>
                    </a:lnR>
                    <a:lnT>
                      <a:noFill/>
                    </a:lnT>
                    <a:lnB>
                      <a:noFill/>
                    </a:lnB>
                  </a:tcPr>
                </a:tc>
                <a:tc>
                  <a:txBody>
                    <a:bodyPr/>
                    <a:lstStyle/>
                    <a:p>
                      <a:r>
                        <a:rPr lang="en-US" dirty="0" err="1"/>
                        <a:t>Product_ID</a:t>
                      </a:r>
                      <a:endParaRPr lang="en-US" dirty="0"/>
                    </a:p>
                  </a:txBody>
                  <a:tcPr anchor="ctr">
                    <a:lnL>
                      <a:noFill/>
                    </a:lnL>
                    <a:lnR>
                      <a:noFill/>
                    </a:lnR>
                    <a:lnT>
                      <a:noFill/>
                    </a:lnT>
                    <a:lnB>
                      <a:noFill/>
                    </a:lnB>
                  </a:tcPr>
                </a:tc>
                <a:tc>
                  <a:txBody>
                    <a:bodyPr/>
                    <a:lstStyle/>
                    <a:p>
                      <a:pPr algn="r"/>
                      <a:r>
                        <a:rPr lang="en-US"/>
                        <a:t>Sales</a:t>
                      </a:r>
                    </a:p>
                  </a:txBody>
                  <a:tcPr anchor="ctr">
                    <a:lnL>
                      <a:noFill/>
                    </a:lnL>
                    <a:lnR>
                      <a:noFill/>
                    </a:lnR>
                    <a:lnT>
                      <a:noFill/>
                    </a:lnT>
                    <a:lnB>
                      <a:noFill/>
                    </a:lnB>
                  </a:tcPr>
                </a:tc>
                <a:extLst>
                  <a:ext uri="{0D108BD9-81ED-4DB2-BD59-A6C34878D82A}">
                    <a16:rowId xmlns:a16="http://schemas.microsoft.com/office/drawing/2014/main" val="1104312568"/>
                  </a:ext>
                </a:extLst>
              </a:tr>
              <a:tr h="0">
                <a:tc>
                  <a:txBody>
                    <a:bodyPr/>
                    <a:lstStyle/>
                    <a:p>
                      <a:r>
                        <a:rPr lang="en-US"/>
                        <a:t>101</a:t>
                      </a:r>
                    </a:p>
                  </a:txBody>
                  <a:tcPr anchor="ctr">
                    <a:lnL>
                      <a:noFill/>
                    </a:lnL>
                    <a:lnR>
                      <a:noFill/>
                    </a:lnR>
                    <a:lnT>
                      <a:noFill/>
                    </a:lnT>
                    <a:lnB>
                      <a:noFill/>
                    </a:lnB>
                  </a:tcPr>
                </a:tc>
                <a:tc>
                  <a:txBody>
                    <a:bodyPr/>
                    <a:lstStyle/>
                    <a:p>
                      <a:r>
                        <a:rPr lang="en-US"/>
                        <a:t>P01</a:t>
                      </a:r>
                    </a:p>
                  </a:txBody>
                  <a:tcPr anchor="ctr">
                    <a:lnL>
                      <a:noFill/>
                    </a:lnL>
                    <a:lnR>
                      <a:noFill/>
                    </a:lnR>
                    <a:lnT>
                      <a:noFill/>
                    </a:lnT>
                    <a:lnB>
                      <a:noFill/>
                    </a:lnB>
                  </a:tcPr>
                </a:tc>
                <a:tc>
                  <a:txBody>
                    <a:bodyPr/>
                    <a:lstStyle/>
                    <a:p>
                      <a:pPr algn="r"/>
                      <a:r>
                        <a:rPr lang="en-US"/>
                        <a:t>500</a:t>
                      </a:r>
                    </a:p>
                  </a:txBody>
                  <a:tcPr anchor="ctr">
                    <a:lnL>
                      <a:noFill/>
                    </a:lnL>
                    <a:lnR>
                      <a:noFill/>
                    </a:lnR>
                    <a:lnT>
                      <a:noFill/>
                    </a:lnT>
                    <a:lnB>
                      <a:noFill/>
                    </a:lnB>
                  </a:tcPr>
                </a:tc>
                <a:extLst>
                  <a:ext uri="{0D108BD9-81ED-4DB2-BD59-A6C34878D82A}">
                    <a16:rowId xmlns:a16="http://schemas.microsoft.com/office/drawing/2014/main" val="2410639155"/>
                  </a:ext>
                </a:extLst>
              </a:tr>
              <a:tr h="869089">
                <a:tc>
                  <a:txBody>
                    <a:bodyPr/>
                    <a:lstStyle/>
                    <a:p>
                      <a:r>
                        <a:rPr lang="en-US"/>
                        <a:t>102</a:t>
                      </a:r>
                    </a:p>
                  </a:txBody>
                  <a:tcPr anchor="ctr">
                    <a:lnL>
                      <a:noFill/>
                    </a:lnL>
                    <a:lnR>
                      <a:noFill/>
                    </a:lnR>
                    <a:lnT>
                      <a:noFill/>
                    </a:lnT>
                    <a:lnB>
                      <a:noFill/>
                    </a:lnB>
                  </a:tcPr>
                </a:tc>
                <a:tc>
                  <a:txBody>
                    <a:bodyPr/>
                    <a:lstStyle/>
                    <a:p>
                      <a:r>
                        <a:rPr lang="en-US"/>
                        <a:t>P02</a:t>
                      </a:r>
                    </a:p>
                  </a:txBody>
                  <a:tcPr anchor="ctr">
                    <a:lnL>
                      <a:noFill/>
                    </a:lnL>
                    <a:lnR>
                      <a:noFill/>
                    </a:lnR>
                    <a:lnT>
                      <a:noFill/>
                    </a:lnT>
                    <a:lnB>
                      <a:noFill/>
                    </a:lnB>
                  </a:tcPr>
                </a:tc>
                <a:tc>
                  <a:txBody>
                    <a:bodyPr/>
                    <a:lstStyle/>
                    <a:p>
                      <a:pPr algn="r"/>
                      <a:r>
                        <a:rPr lang="en-US"/>
                        <a:t>700</a:t>
                      </a:r>
                    </a:p>
                  </a:txBody>
                  <a:tcPr anchor="ctr">
                    <a:lnL>
                      <a:noFill/>
                    </a:lnL>
                    <a:lnR>
                      <a:noFill/>
                    </a:lnR>
                    <a:lnT>
                      <a:noFill/>
                    </a:lnT>
                    <a:lnB>
                      <a:noFill/>
                    </a:lnB>
                  </a:tcPr>
                </a:tc>
                <a:extLst>
                  <a:ext uri="{0D108BD9-81ED-4DB2-BD59-A6C34878D82A}">
                    <a16:rowId xmlns:a16="http://schemas.microsoft.com/office/drawing/2014/main" val="1281803876"/>
                  </a:ext>
                </a:extLst>
              </a:tr>
              <a:tr h="0">
                <a:tc>
                  <a:txBody>
                    <a:bodyPr/>
                    <a:lstStyle/>
                    <a:p>
                      <a:r>
                        <a:rPr lang="en-US"/>
                        <a:t>103</a:t>
                      </a:r>
                    </a:p>
                  </a:txBody>
                  <a:tcPr anchor="ctr">
                    <a:lnL>
                      <a:noFill/>
                    </a:lnL>
                    <a:lnR>
                      <a:noFill/>
                    </a:lnR>
                    <a:lnT>
                      <a:noFill/>
                    </a:lnT>
                    <a:lnB>
                      <a:noFill/>
                    </a:lnB>
                  </a:tcPr>
                </a:tc>
                <a:tc>
                  <a:txBody>
                    <a:bodyPr/>
                    <a:lstStyle/>
                    <a:p>
                      <a:r>
                        <a:rPr lang="en-US" dirty="0"/>
                        <a:t>P01</a:t>
                      </a:r>
                    </a:p>
                  </a:txBody>
                  <a:tcPr anchor="ctr">
                    <a:lnL>
                      <a:noFill/>
                    </a:lnL>
                    <a:lnR>
                      <a:noFill/>
                    </a:lnR>
                    <a:lnT>
                      <a:noFill/>
                    </a:lnT>
                    <a:lnB>
                      <a:noFill/>
                    </a:lnB>
                  </a:tcPr>
                </a:tc>
                <a:tc>
                  <a:txBody>
                    <a:bodyPr/>
                    <a:lstStyle/>
                    <a:p>
                      <a:pPr algn="r"/>
                      <a:r>
                        <a:rPr lang="en-US"/>
                        <a:t>300</a:t>
                      </a:r>
                    </a:p>
                  </a:txBody>
                  <a:tcPr anchor="ctr">
                    <a:lnL>
                      <a:noFill/>
                    </a:lnL>
                    <a:lnR>
                      <a:noFill/>
                    </a:lnR>
                    <a:lnT>
                      <a:noFill/>
                    </a:lnT>
                    <a:lnB>
                      <a:noFill/>
                    </a:lnB>
                  </a:tcPr>
                </a:tc>
                <a:extLst>
                  <a:ext uri="{0D108BD9-81ED-4DB2-BD59-A6C34878D82A}">
                    <a16:rowId xmlns:a16="http://schemas.microsoft.com/office/drawing/2014/main" val="3753010015"/>
                  </a:ext>
                </a:extLst>
              </a:tr>
              <a:tr h="0">
                <a:tc>
                  <a:txBody>
                    <a:bodyPr/>
                    <a:lstStyle/>
                    <a:p>
                      <a:r>
                        <a:rPr lang="en-US"/>
                        <a:t>104</a:t>
                      </a:r>
                    </a:p>
                  </a:txBody>
                  <a:tcPr anchor="ctr">
                    <a:lnL>
                      <a:noFill/>
                    </a:lnL>
                    <a:lnR>
                      <a:noFill/>
                    </a:lnR>
                    <a:lnT>
                      <a:noFill/>
                    </a:lnT>
                    <a:lnB>
                      <a:noFill/>
                    </a:lnB>
                  </a:tcPr>
                </a:tc>
                <a:tc>
                  <a:txBody>
                    <a:bodyPr/>
                    <a:lstStyle/>
                    <a:p>
                      <a:r>
                        <a:rPr lang="en-US"/>
                        <a:t>P03</a:t>
                      </a:r>
                    </a:p>
                  </a:txBody>
                  <a:tcPr anchor="ctr">
                    <a:lnL>
                      <a:noFill/>
                    </a:lnL>
                    <a:lnR>
                      <a:noFill/>
                    </a:lnR>
                    <a:lnT>
                      <a:noFill/>
                    </a:lnT>
                    <a:lnB>
                      <a:noFill/>
                    </a:lnB>
                  </a:tcPr>
                </a:tc>
                <a:tc>
                  <a:txBody>
                    <a:bodyPr/>
                    <a:lstStyle/>
                    <a:p>
                      <a:pPr algn="r"/>
                      <a:r>
                        <a:rPr lang="en-US"/>
                        <a:t>900</a:t>
                      </a:r>
                    </a:p>
                  </a:txBody>
                  <a:tcPr anchor="ctr">
                    <a:lnL>
                      <a:noFill/>
                    </a:lnL>
                    <a:lnR>
                      <a:noFill/>
                    </a:lnR>
                    <a:lnT>
                      <a:noFill/>
                    </a:lnT>
                    <a:lnB>
                      <a:noFill/>
                    </a:lnB>
                  </a:tcPr>
                </a:tc>
                <a:extLst>
                  <a:ext uri="{0D108BD9-81ED-4DB2-BD59-A6C34878D82A}">
                    <a16:rowId xmlns:a16="http://schemas.microsoft.com/office/drawing/2014/main" val="3718342209"/>
                  </a:ext>
                </a:extLst>
              </a:tr>
              <a:tr h="0">
                <a:tc>
                  <a:txBody>
                    <a:bodyPr/>
                    <a:lstStyle/>
                    <a:p>
                      <a:r>
                        <a:rPr lang="en-US"/>
                        <a:t>105</a:t>
                      </a:r>
                    </a:p>
                  </a:txBody>
                  <a:tcPr anchor="ctr">
                    <a:lnL>
                      <a:noFill/>
                    </a:lnL>
                    <a:lnR>
                      <a:noFill/>
                    </a:lnR>
                    <a:lnT>
                      <a:noFill/>
                    </a:lnT>
                    <a:lnB>
                      <a:noFill/>
                    </a:lnB>
                  </a:tcPr>
                </a:tc>
                <a:tc>
                  <a:txBody>
                    <a:bodyPr/>
                    <a:lstStyle/>
                    <a:p>
                      <a:r>
                        <a:rPr lang="en-US"/>
                        <a:t>P01</a:t>
                      </a:r>
                    </a:p>
                  </a:txBody>
                  <a:tcPr anchor="ctr">
                    <a:lnL>
                      <a:noFill/>
                    </a:lnL>
                    <a:lnR>
                      <a:noFill/>
                    </a:lnR>
                    <a:lnT>
                      <a:noFill/>
                    </a:lnT>
                    <a:lnB>
                      <a:noFill/>
                    </a:lnB>
                  </a:tcPr>
                </a:tc>
                <a:tc>
                  <a:txBody>
                    <a:bodyPr/>
                    <a:lstStyle/>
                    <a:p>
                      <a:pPr algn="r"/>
                      <a:r>
                        <a:rPr lang="en-US" dirty="0"/>
                        <a:t>600</a:t>
                      </a:r>
                    </a:p>
                  </a:txBody>
                  <a:tcPr anchor="ctr">
                    <a:lnL>
                      <a:noFill/>
                    </a:lnL>
                    <a:lnR>
                      <a:noFill/>
                    </a:lnR>
                    <a:lnT>
                      <a:noFill/>
                    </a:lnT>
                    <a:lnB>
                      <a:noFill/>
                    </a:lnB>
                  </a:tcPr>
                </a:tc>
                <a:extLst>
                  <a:ext uri="{0D108BD9-81ED-4DB2-BD59-A6C34878D82A}">
                    <a16:rowId xmlns:a16="http://schemas.microsoft.com/office/drawing/2014/main" val="2412815897"/>
                  </a:ext>
                </a:extLst>
              </a:tr>
            </a:tbl>
          </a:graphicData>
        </a:graphic>
      </p:graphicFrame>
    </p:spTree>
    <p:extLst>
      <p:ext uri="{BB962C8B-B14F-4D97-AF65-F5344CB8AC3E}">
        <p14:creationId xmlns:p14="http://schemas.microsoft.com/office/powerpoint/2010/main" val="1696083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A742BE-C53A-4067-AEDA-D3F3BDF35FB1}"/>
              </a:ext>
            </a:extLst>
          </p:cNvPr>
          <p:cNvSpPr>
            <a:spLocks noGrp="1"/>
          </p:cNvSpPr>
          <p:nvPr>
            <p:ph idx="1"/>
          </p:nvPr>
        </p:nvSpPr>
        <p:spPr>
          <a:xfrm>
            <a:off x="712270" y="312821"/>
            <a:ext cx="10641530" cy="5864142"/>
          </a:xfrm>
        </p:spPr>
        <p:txBody>
          <a:bodyPr>
            <a:normAutofit lnSpcReduction="10000"/>
          </a:bodyPr>
          <a:lstStyle/>
          <a:p>
            <a:pPr marL="0" indent="0">
              <a:buNone/>
            </a:pPr>
            <a:r>
              <a:rPr lang="en-US" b="1" dirty="0">
                <a:solidFill>
                  <a:srgbClr val="FF0000"/>
                </a:solidFill>
              </a:rPr>
              <a:t>Product Table:</a:t>
            </a:r>
          </a:p>
          <a:p>
            <a:pPr marL="0" indent="0">
              <a:buNone/>
            </a:pPr>
            <a:endParaRPr lang="en-US" b="1" dirty="0">
              <a:solidFill>
                <a:srgbClr val="FF0000"/>
              </a:solidFill>
            </a:endParaRPr>
          </a:p>
          <a:p>
            <a:pPr marL="0" indent="0">
              <a:buNone/>
            </a:pPr>
            <a:endParaRPr lang="en-US" b="1" dirty="0">
              <a:solidFill>
                <a:srgbClr val="FF0000"/>
              </a:solidFill>
            </a:endParaRPr>
          </a:p>
          <a:p>
            <a:pPr marL="0" indent="0">
              <a:buNone/>
            </a:pPr>
            <a:endParaRPr lang="en-US" b="1" dirty="0">
              <a:solidFill>
                <a:srgbClr val="FF0000"/>
              </a:solidFill>
            </a:endParaRPr>
          </a:p>
          <a:p>
            <a:pPr marL="0" indent="0">
              <a:buNone/>
            </a:pPr>
            <a:endParaRPr lang="en-US" b="1" dirty="0">
              <a:solidFill>
                <a:srgbClr val="FF0000"/>
              </a:solidFill>
            </a:endParaRPr>
          </a:p>
          <a:p>
            <a:pPr marL="0" indent="0">
              <a:buNone/>
            </a:pPr>
            <a:endParaRPr lang="en-US" b="1" dirty="0">
              <a:solidFill>
                <a:srgbClr val="FF0000"/>
              </a:solidFill>
            </a:endParaRPr>
          </a:p>
          <a:p>
            <a:pPr marL="0" indent="0">
              <a:buNone/>
            </a:pPr>
            <a:r>
              <a:rPr lang="en-US" b="1" dirty="0" err="1"/>
              <a:t>Yahan</a:t>
            </a:r>
            <a:r>
              <a:rPr lang="en-US" b="1" dirty="0"/>
              <a:t> P01 </a:t>
            </a:r>
            <a:r>
              <a:rPr lang="en-US" b="1" dirty="0" err="1"/>
              <a:t>sirf</a:t>
            </a:r>
            <a:r>
              <a:rPr lang="en-US" b="1" dirty="0"/>
              <a:t> 1 </a:t>
            </a:r>
            <a:r>
              <a:rPr lang="en-US" b="1" dirty="0" err="1"/>
              <a:t>baar</a:t>
            </a:r>
            <a:r>
              <a:rPr lang="en-US" b="1" dirty="0"/>
              <a:t> </a:t>
            </a:r>
            <a:r>
              <a:rPr lang="en-US" b="1" dirty="0" err="1"/>
              <a:t>hai</a:t>
            </a:r>
            <a:r>
              <a:rPr lang="en-US" b="1" dirty="0"/>
              <a:t>.</a:t>
            </a:r>
          </a:p>
          <a:p>
            <a:pPr marL="0" indent="0">
              <a:buNone/>
            </a:pPr>
            <a:r>
              <a:rPr lang="en-US" b="1" dirty="0" err="1"/>
              <a:t>Isliye</a:t>
            </a:r>
            <a:r>
              <a:rPr lang="en-US" b="1" dirty="0"/>
              <a:t> relationship:</a:t>
            </a:r>
          </a:p>
          <a:p>
            <a:pPr marL="0" indent="0">
              <a:buNone/>
            </a:pPr>
            <a:r>
              <a:rPr lang="en-US" b="1" dirty="0"/>
              <a:t>Sales (*) → Product (1)</a:t>
            </a:r>
          </a:p>
          <a:p>
            <a:pPr marL="0" indent="0">
              <a:buNone/>
            </a:pPr>
            <a:r>
              <a:rPr lang="en-US" b="1" dirty="0"/>
              <a:t>* aur 1 ka </a:t>
            </a:r>
            <a:r>
              <a:rPr lang="en-US" b="1" dirty="0" err="1"/>
              <a:t>matlab</a:t>
            </a:r>
            <a:endParaRPr lang="en-US" b="1" dirty="0"/>
          </a:p>
          <a:p>
            <a:pPr marL="0" indent="0">
              <a:buNone/>
            </a:pPr>
            <a:r>
              <a:rPr lang="en-US" b="1" dirty="0"/>
              <a:t>* = Many → value multiple times aa </a:t>
            </a:r>
            <a:r>
              <a:rPr lang="en-US" b="1" dirty="0" err="1"/>
              <a:t>sakti</a:t>
            </a:r>
            <a:r>
              <a:rPr lang="en-US" b="1" dirty="0"/>
              <a:t> </a:t>
            </a:r>
            <a:r>
              <a:rPr lang="en-US" b="1" dirty="0" err="1"/>
              <a:t>hai</a:t>
            </a:r>
            <a:endParaRPr lang="en-US" b="1" dirty="0"/>
          </a:p>
          <a:p>
            <a:pPr marL="0" indent="0">
              <a:buNone/>
            </a:pPr>
            <a:r>
              <a:rPr lang="en-US" b="1" dirty="0"/>
              <a:t>1 = One → value </a:t>
            </a:r>
            <a:r>
              <a:rPr lang="en-US" b="1" dirty="0" err="1"/>
              <a:t>sirf</a:t>
            </a:r>
            <a:r>
              <a:rPr lang="en-US" b="1" dirty="0"/>
              <a:t> </a:t>
            </a:r>
            <a:r>
              <a:rPr lang="en-US" b="1" dirty="0" err="1"/>
              <a:t>ek</a:t>
            </a:r>
            <a:r>
              <a:rPr lang="en-US" b="1" dirty="0"/>
              <a:t> </a:t>
            </a:r>
            <a:r>
              <a:rPr lang="en-US" b="1" dirty="0" err="1"/>
              <a:t>baar</a:t>
            </a:r>
            <a:r>
              <a:rPr lang="en-US" b="1" dirty="0"/>
              <a:t> </a:t>
            </a:r>
            <a:r>
              <a:rPr lang="en-US" b="1" dirty="0" err="1"/>
              <a:t>honi</a:t>
            </a:r>
            <a:r>
              <a:rPr lang="en-US" b="1" dirty="0"/>
              <a:t> </a:t>
            </a:r>
            <a:r>
              <a:rPr lang="en-US" b="1" dirty="0" err="1"/>
              <a:t>chahiye</a:t>
            </a:r>
            <a:endParaRPr lang="en-US" b="1" dirty="0"/>
          </a:p>
          <a:p>
            <a:pPr marL="0" indent="0">
              <a:buNone/>
            </a:pPr>
            <a:endParaRPr lang="en-US" dirty="0"/>
          </a:p>
        </p:txBody>
      </p:sp>
      <p:pic>
        <p:nvPicPr>
          <p:cNvPr id="7" name="Picture 6">
            <a:extLst>
              <a:ext uri="{FF2B5EF4-FFF2-40B4-BE49-F238E27FC236}">
                <a16:creationId xmlns:a16="http://schemas.microsoft.com/office/drawing/2014/main" id="{81A8D875-9FFA-4418-A8B6-DF497245C426}"/>
              </a:ext>
            </a:extLst>
          </p:cNvPr>
          <p:cNvPicPr>
            <a:picLocks noChangeAspect="1"/>
          </p:cNvPicPr>
          <p:nvPr/>
        </p:nvPicPr>
        <p:blipFill>
          <a:blip r:embed="rId2"/>
          <a:stretch>
            <a:fillRect/>
          </a:stretch>
        </p:blipFill>
        <p:spPr>
          <a:xfrm>
            <a:off x="526071" y="778439"/>
            <a:ext cx="6967196" cy="2166892"/>
          </a:xfrm>
          <a:prstGeom prst="rect">
            <a:avLst/>
          </a:prstGeom>
        </p:spPr>
      </p:pic>
    </p:spTree>
    <p:extLst>
      <p:ext uri="{BB962C8B-B14F-4D97-AF65-F5344CB8AC3E}">
        <p14:creationId xmlns:p14="http://schemas.microsoft.com/office/powerpoint/2010/main" val="4151267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F835D-6D54-463E-AFA5-69FF82B8C6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5667DE-ACD8-41F4-914F-E9F147313359}"/>
              </a:ext>
            </a:extLst>
          </p:cNvPr>
          <p:cNvSpPr>
            <a:spLocks noGrp="1"/>
          </p:cNvSpPr>
          <p:nvPr>
            <p:ph idx="1"/>
          </p:nvPr>
        </p:nvSpPr>
        <p:spPr/>
        <p:txBody>
          <a:bodyPr/>
          <a:lstStyle/>
          <a:p>
            <a:r>
              <a:rPr lang="en-US" b="1" dirty="0"/>
              <a:t>Jahan ID repeat ho </a:t>
            </a:r>
            <a:r>
              <a:rPr lang="en-US" b="1" dirty="0" err="1"/>
              <a:t>rahi</a:t>
            </a:r>
            <a:r>
              <a:rPr lang="en-US" b="1" dirty="0"/>
              <a:t> </a:t>
            </a:r>
            <a:r>
              <a:rPr lang="en-US" b="1" dirty="0" err="1"/>
              <a:t>hai</a:t>
            </a:r>
            <a:r>
              <a:rPr lang="en-US" b="1" dirty="0"/>
              <a:t> = Many (*)</a:t>
            </a:r>
            <a:br>
              <a:rPr lang="en-US" dirty="0"/>
            </a:br>
            <a:r>
              <a:rPr lang="en-US" b="1" dirty="0"/>
              <a:t>Jahan ID unique </a:t>
            </a:r>
            <a:r>
              <a:rPr lang="en-US" b="1" dirty="0" err="1"/>
              <a:t>hai</a:t>
            </a:r>
            <a:r>
              <a:rPr lang="en-US" b="1" dirty="0"/>
              <a:t> = One (1)</a:t>
            </a:r>
            <a:endParaRPr lang="en-US" dirty="0"/>
          </a:p>
        </p:txBody>
      </p:sp>
    </p:spTree>
    <p:extLst>
      <p:ext uri="{BB962C8B-B14F-4D97-AF65-F5344CB8AC3E}">
        <p14:creationId xmlns:p14="http://schemas.microsoft.com/office/powerpoint/2010/main" val="3992247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08AD7-CD1C-4101-A866-1ED6D30E965A}"/>
              </a:ext>
            </a:extLst>
          </p:cNvPr>
          <p:cNvSpPr>
            <a:spLocks noGrp="1"/>
          </p:cNvSpPr>
          <p:nvPr>
            <p:ph type="title"/>
          </p:nvPr>
        </p:nvSpPr>
        <p:spPr>
          <a:xfrm>
            <a:off x="838200" y="365125"/>
            <a:ext cx="10515600" cy="852471"/>
          </a:xfrm>
        </p:spPr>
        <p:txBody>
          <a:bodyPr>
            <a:normAutofit fontScale="90000"/>
          </a:bodyPr>
          <a:lstStyle/>
          <a:p>
            <a:r>
              <a:rPr lang="en-US" b="1" dirty="0"/>
              <a:t>One-to-One (1 : 1) </a:t>
            </a:r>
            <a:r>
              <a:rPr lang="en-US" b="1" dirty="0" err="1"/>
              <a:t>kya</a:t>
            </a:r>
            <a:r>
              <a:rPr lang="en-US" b="1" dirty="0"/>
              <a:t> </a:t>
            </a:r>
            <a:r>
              <a:rPr lang="en-US" b="1" dirty="0" err="1"/>
              <a:t>hota</a:t>
            </a:r>
            <a:r>
              <a:rPr lang="en-US" b="1" dirty="0"/>
              <a:t> </a:t>
            </a:r>
            <a:r>
              <a:rPr lang="en-US" b="1" dirty="0" err="1"/>
              <a:t>hai</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4C857ECE-962B-4FEA-A995-BDA3FE82E4EF}"/>
              </a:ext>
            </a:extLst>
          </p:cNvPr>
          <p:cNvSpPr>
            <a:spLocks noGrp="1"/>
          </p:cNvSpPr>
          <p:nvPr>
            <p:ph idx="1"/>
          </p:nvPr>
        </p:nvSpPr>
        <p:spPr>
          <a:xfrm>
            <a:off x="838200" y="933651"/>
            <a:ext cx="10515600" cy="5243312"/>
          </a:xfrm>
        </p:spPr>
        <p:txBody>
          <a:bodyPr/>
          <a:lstStyle/>
          <a:p>
            <a:r>
              <a:rPr lang="en-US" dirty="0"/>
              <a:t>Power BI </a:t>
            </a:r>
            <a:r>
              <a:rPr lang="en-US" dirty="0" err="1"/>
              <a:t>mein</a:t>
            </a:r>
            <a:r>
              <a:rPr lang="en-US" dirty="0"/>
              <a:t> One-to-One (1:1) ka </a:t>
            </a:r>
            <a:r>
              <a:rPr lang="en-US" dirty="0" err="1"/>
              <a:t>matlab</a:t>
            </a:r>
            <a:r>
              <a:rPr lang="en-US" dirty="0"/>
              <a:t> </a:t>
            </a:r>
            <a:r>
              <a:rPr lang="en-US" dirty="0" err="1"/>
              <a:t>hai</a:t>
            </a:r>
            <a:r>
              <a:rPr lang="en-US" dirty="0"/>
              <a:t>:</a:t>
            </a:r>
          </a:p>
          <a:p>
            <a:endParaRPr lang="en-US" dirty="0"/>
          </a:p>
          <a:p>
            <a:r>
              <a:rPr lang="en-US" dirty="0" err="1"/>
              <a:t>Dono</a:t>
            </a:r>
            <a:r>
              <a:rPr lang="en-US" dirty="0"/>
              <a:t> tables </a:t>
            </a:r>
            <a:r>
              <a:rPr lang="en-US" dirty="0" err="1"/>
              <a:t>mein</a:t>
            </a:r>
            <a:r>
              <a:rPr lang="en-US" dirty="0"/>
              <a:t> relationship </a:t>
            </a:r>
            <a:r>
              <a:rPr lang="en-US" dirty="0" err="1"/>
              <a:t>wali</a:t>
            </a:r>
            <a:r>
              <a:rPr lang="en-US" dirty="0"/>
              <a:t> value unique </a:t>
            </a:r>
            <a:r>
              <a:rPr lang="en-US" dirty="0" err="1"/>
              <a:t>hoti</a:t>
            </a:r>
            <a:r>
              <a:rPr lang="en-US" dirty="0"/>
              <a:t> </a:t>
            </a:r>
            <a:r>
              <a:rPr lang="en-US" dirty="0" err="1"/>
              <a:t>hai</a:t>
            </a:r>
            <a:r>
              <a:rPr lang="en-US" dirty="0"/>
              <a:t>.</a:t>
            </a:r>
          </a:p>
          <a:p>
            <a:r>
              <a:rPr lang="en-US" dirty="0" err="1"/>
              <a:t>Ek</a:t>
            </a:r>
            <a:r>
              <a:rPr lang="en-US" dirty="0"/>
              <a:t> value </a:t>
            </a:r>
            <a:r>
              <a:rPr lang="en-US" dirty="0" err="1"/>
              <a:t>pehli</a:t>
            </a:r>
            <a:r>
              <a:rPr lang="en-US" dirty="0"/>
              <a:t> table </a:t>
            </a:r>
            <a:r>
              <a:rPr lang="en-US" dirty="0" err="1"/>
              <a:t>mein</a:t>
            </a:r>
            <a:r>
              <a:rPr lang="en-US" dirty="0"/>
              <a:t> </a:t>
            </a:r>
            <a:r>
              <a:rPr lang="en-US" dirty="0" err="1"/>
              <a:t>sirf</a:t>
            </a:r>
            <a:r>
              <a:rPr lang="en-US" dirty="0"/>
              <a:t> 1 </a:t>
            </a:r>
            <a:r>
              <a:rPr lang="en-US" dirty="0" err="1"/>
              <a:t>baar</a:t>
            </a:r>
            <a:r>
              <a:rPr lang="en-US" dirty="0"/>
              <a:t> aur </a:t>
            </a:r>
            <a:r>
              <a:rPr lang="en-US" dirty="0" err="1"/>
              <a:t>doosri</a:t>
            </a:r>
            <a:r>
              <a:rPr lang="en-US" dirty="0"/>
              <a:t> table </a:t>
            </a:r>
            <a:r>
              <a:rPr lang="en-US" dirty="0" err="1"/>
              <a:t>mein</a:t>
            </a:r>
            <a:r>
              <a:rPr lang="en-US" dirty="0"/>
              <a:t> </a:t>
            </a:r>
            <a:r>
              <a:rPr lang="en-US" dirty="0" err="1"/>
              <a:t>bhi</a:t>
            </a:r>
            <a:r>
              <a:rPr lang="en-US" dirty="0"/>
              <a:t> </a:t>
            </a:r>
            <a:r>
              <a:rPr lang="en-US" dirty="0" err="1"/>
              <a:t>sirf</a:t>
            </a:r>
            <a:r>
              <a:rPr lang="en-US" dirty="0"/>
              <a:t> 1 </a:t>
            </a:r>
            <a:r>
              <a:rPr lang="en-US" dirty="0" err="1"/>
              <a:t>baar</a:t>
            </a:r>
            <a:r>
              <a:rPr lang="en-US" dirty="0"/>
              <a:t> </a:t>
            </a:r>
            <a:r>
              <a:rPr lang="en-US" dirty="0" err="1"/>
              <a:t>hoti</a:t>
            </a:r>
            <a:r>
              <a:rPr lang="en-US" dirty="0"/>
              <a:t> </a:t>
            </a:r>
            <a:r>
              <a:rPr lang="en-US" dirty="0" err="1"/>
              <a:t>hai</a:t>
            </a:r>
            <a:r>
              <a:rPr lang="en-US" dirty="0"/>
              <a:t>.</a:t>
            </a:r>
          </a:p>
        </p:txBody>
      </p:sp>
      <p:pic>
        <p:nvPicPr>
          <p:cNvPr id="5" name="Picture 4">
            <a:extLst>
              <a:ext uri="{FF2B5EF4-FFF2-40B4-BE49-F238E27FC236}">
                <a16:creationId xmlns:a16="http://schemas.microsoft.com/office/drawing/2014/main" id="{313B87E3-AD36-4378-98AC-61040629A74A}"/>
              </a:ext>
            </a:extLst>
          </p:cNvPr>
          <p:cNvPicPr>
            <a:picLocks noChangeAspect="1"/>
          </p:cNvPicPr>
          <p:nvPr/>
        </p:nvPicPr>
        <p:blipFill>
          <a:blip r:embed="rId2"/>
          <a:stretch>
            <a:fillRect/>
          </a:stretch>
        </p:blipFill>
        <p:spPr>
          <a:xfrm>
            <a:off x="4485199" y="3234088"/>
            <a:ext cx="6705945" cy="3258787"/>
          </a:xfrm>
          <a:prstGeom prst="rect">
            <a:avLst/>
          </a:prstGeom>
        </p:spPr>
      </p:pic>
    </p:spTree>
    <p:extLst>
      <p:ext uri="{BB962C8B-B14F-4D97-AF65-F5344CB8AC3E}">
        <p14:creationId xmlns:p14="http://schemas.microsoft.com/office/powerpoint/2010/main" val="2697053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28229-29FE-4E76-B3C2-F1C7A7B5FD66}"/>
              </a:ext>
            </a:extLst>
          </p:cNvPr>
          <p:cNvSpPr>
            <a:spLocks noGrp="1"/>
          </p:cNvSpPr>
          <p:nvPr>
            <p:ph type="title"/>
          </p:nvPr>
        </p:nvSpPr>
        <p:spPr>
          <a:xfrm>
            <a:off x="838200" y="365125"/>
            <a:ext cx="10515600" cy="597401"/>
          </a:xfrm>
        </p:spPr>
        <p:txBody>
          <a:bodyPr>
            <a:normAutofit fontScale="90000"/>
          </a:bodyPr>
          <a:lstStyle/>
          <a:p>
            <a:r>
              <a:rPr lang="en-US" b="1" dirty="0"/>
              <a:t>One-to-Many (1 : *)</a:t>
            </a:r>
            <a:br>
              <a:rPr lang="en-US" b="1" dirty="0"/>
            </a:br>
            <a:endParaRPr lang="en-US" b="1" dirty="0"/>
          </a:p>
        </p:txBody>
      </p:sp>
      <p:sp>
        <p:nvSpPr>
          <p:cNvPr id="3" name="Content Placeholder 2">
            <a:extLst>
              <a:ext uri="{FF2B5EF4-FFF2-40B4-BE49-F238E27FC236}">
                <a16:creationId xmlns:a16="http://schemas.microsoft.com/office/drawing/2014/main" id="{548FA412-869F-4940-9787-C7EB6C6936FD}"/>
              </a:ext>
            </a:extLst>
          </p:cNvPr>
          <p:cNvSpPr>
            <a:spLocks noGrp="1"/>
          </p:cNvSpPr>
          <p:nvPr>
            <p:ph idx="1"/>
          </p:nvPr>
        </p:nvSpPr>
        <p:spPr>
          <a:xfrm>
            <a:off x="1053966" y="1073217"/>
            <a:ext cx="10299834" cy="5103746"/>
          </a:xfrm>
        </p:spPr>
        <p:txBody>
          <a:bodyPr/>
          <a:lstStyle/>
          <a:p>
            <a:r>
              <a:rPr lang="en-US" dirty="0" err="1"/>
              <a:t>Ek</a:t>
            </a:r>
            <a:r>
              <a:rPr lang="en-US" dirty="0"/>
              <a:t> record </a:t>
            </a:r>
            <a:r>
              <a:rPr lang="en-US" dirty="0" err="1"/>
              <a:t>doosri</a:t>
            </a:r>
            <a:r>
              <a:rPr lang="en-US" dirty="0"/>
              <a:t> table </a:t>
            </a:r>
            <a:r>
              <a:rPr lang="en-US" dirty="0" err="1"/>
              <a:t>mein</a:t>
            </a:r>
            <a:r>
              <a:rPr lang="en-US" dirty="0"/>
              <a:t> multiple records se related ho </a:t>
            </a:r>
            <a:r>
              <a:rPr lang="en-US" dirty="0" err="1"/>
              <a:t>sakta</a:t>
            </a:r>
            <a:r>
              <a:rPr lang="en-US" dirty="0"/>
              <a:t> </a:t>
            </a:r>
            <a:r>
              <a:rPr lang="en-US" dirty="0" err="1"/>
              <a:t>hai</a:t>
            </a:r>
            <a:r>
              <a:rPr lang="en-US" dirty="0"/>
              <a:t>.</a:t>
            </a:r>
          </a:p>
          <a:p>
            <a:r>
              <a:rPr lang="en-US" dirty="0"/>
              <a:t>**1 Customer </a:t>
            </a:r>
            <a:r>
              <a:rPr lang="en-US" dirty="0" err="1"/>
              <a:t>ke</a:t>
            </a:r>
            <a:r>
              <a:rPr lang="en-US" dirty="0"/>
              <a:t> MANY Orders ho </a:t>
            </a:r>
            <a:r>
              <a:rPr lang="en-US" dirty="0" err="1"/>
              <a:t>sakte</a:t>
            </a:r>
            <a:r>
              <a:rPr lang="en-US" dirty="0"/>
              <a:t> </a:t>
            </a:r>
            <a:r>
              <a:rPr lang="en-US" dirty="0" err="1"/>
              <a:t>hain</a:t>
            </a:r>
            <a:r>
              <a:rPr lang="en-US" dirty="0"/>
              <a:t> = 1 : ***</a:t>
            </a:r>
          </a:p>
          <a:p>
            <a:endParaRPr lang="en-US" dirty="0"/>
          </a:p>
          <a:p>
            <a:endParaRPr lang="en-US" dirty="0"/>
          </a:p>
          <a:p>
            <a:r>
              <a:rPr lang="en-US" dirty="0"/>
              <a:t>**1 Customer </a:t>
            </a:r>
            <a:r>
              <a:rPr lang="en-US" dirty="0" err="1"/>
              <a:t>ke</a:t>
            </a:r>
            <a:r>
              <a:rPr lang="en-US" dirty="0"/>
              <a:t> MANY Orders ho </a:t>
            </a:r>
            <a:r>
              <a:rPr lang="en-US" dirty="0" err="1"/>
              <a:t>sakte</a:t>
            </a:r>
            <a:r>
              <a:rPr lang="en-US" dirty="0"/>
              <a:t> </a:t>
            </a:r>
            <a:r>
              <a:rPr lang="en-US" dirty="0" err="1"/>
              <a:t>hain</a:t>
            </a:r>
            <a:r>
              <a:rPr lang="en-US" dirty="0"/>
              <a:t> = 1 : ***</a:t>
            </a:r>
          </a:p>
          <a:p>
            <a:endParaRPr lang="en-US" dirty="0"/>
          </a:p>
        </p:txBody>
      </p:sp>
      <p:pic>
        <p:nvPicPr>
          <p:cNvPr id="5" name="Picture 4">
            <a:extLst>
              <a:ext uri="{FF2B5EF4-FFF2-40B4-BE49-F238E27FC236}">
                <a16:creationId xmlns:a16="http://schemas.microsoft.com/office/drawing/2014/main" id="{7E6B213F-58B6-4A62-A44D-DFB06E245ED6}"/>
              </a:ext>
            </a:extLst>
          </p:cNvPr>
          <p:cNvPicPr>
            <a:picLocks noChangeAspect="1"/>
          </p:cNvPicPr>
          <p:nvPr/>
        </p:nvPicPr>
        <p:blipFill>
          <a:blip r:embed="rId2"/>
          <a:stretch>
            <a:fillRect/>
          </a:stretch>
        </p:blipFill>
        <p:spPr>
          <a:xfrm>
            <a:off x="1053966" y="2820343"/>
            <a:ext cx="7757962" cy="2751370"/>
          </a:xfrm>
          <a:prstGeom prst="rect">
            <a:avLst/>
          </a:prstGeom>
        </p:spPr>
      </p:pic>
      <p:pic>
        <p:nvPicPr>
          <p:cNvPr id="7" name="Picture 6">
            <a:extLst>
              <a:ext uri="{FF2B5EF4-FFF2-40B4-BE49-F238E27FC236}">
                <a16:creationId xmlns:a16="http://schemas.microsoft.com/office/drawing/2014/main" id="{E2832D3B-60DA-40E7-9390-615748B065F1}"/>
              </a:ext>
            </a:extLst>
          </p:cNvPr>
          <p:cNvPicPr>
            <a:picLocks noChangeAspect="1"/>
          </p:cNvPicPr>
          <p:nvPr/>
        </p:nvPicPr>
        <p:blipFill>
          <a:blip r:embed="rId3"/>
          <a:stretch>
            <a:fillRect/>
          </a:stretch>
        </p:blipFill>
        <p:spPr>
          <a:xfrm>
            <a:off x="5726791" y="2676016"/>
            <a:ext cx="5862264" cy="3248192"/>
          </a:xfrm>
          <a:prstGeom prst="rect">
            <a:avLst/>
          </a:prstGeom>
        </p:spPr>
      </p:pic>
    </p:spTree>
    <p:extLst>
      <p:ext uri="{BB962C8B-B14F-4D97-AF65-F5344CB8AC3E}">
        <p14:creationId xmlns:p14="http://schemas.microsoft.com/office/powerpoint/2010/main" val="2031623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15CD-9C2E-4F1C-8DBC-CD580235DADB}"/>
              </a:ext>
            </a:extLst>
          </p:cNvPr>
          <p:cNvSpPr>
            <a:spLocks noGrp="1"/>
          </p:cNvSpPr>
          <p:nvPr>
            <p:ph type="title"/>
          </p:nvPr>
        </p:nvSpPr>
        <p:spPr>
          <a:xfrm>
            <a:off x="838200" y="365126"/>
            <a:ext cx="10515600" cy="650340"/>
          </a:xfrm>
        </p:spPr>
        <p:txBody>
          <a:bodyPr>
            <a:normAutofit fontScale="90000"/>
          </a:bodyPr>
          <a:lstStyle/>
          <a:p>
            <a:r>
              <a:rPr lang="en-US" b="1" dirty="0"/>
              <a:t>Many-to-Many (* : *)</a:t>
            </a:r>
          </a:p>
        </p:txBody>
      </p:sp>
      <p:sp>
        <p:nvSpPr>
          <p:cNvPr id="3" name="Content Placeholder 2">
            <a:extLst>
              <a:ext uri="{FF2B5EF4-FFF2-40B4-BE49-F238E27FC236}">
                <a16:creationId xmlns:a16="http://schemas.microsoft.com/office/drawing/2014/main" id="{0B6F00ED-DAE0-45AC-8195-4747611D4487}"/>
              </a:ext>
            </a:extLst>
          </p:cNvPr>
          <p:cNvSpPr>
            <a:spLocks noGrp="1"/>
          </p:cNvSpPr>
          <p:nvPr>
            <p:ph idx="1"/>
          </p:nvPr>
        </p:nvSpPr>
        <p:spPr>
          <a:xfrm>
            <a:off x="1001026" y="1092467"/>
            <a:ext cx="10352773" cy="5084496"/>
          </a:xfrm>
        </p:spPr>
        <p:txBody>
          <a:bodyPr/>
          <a:lstStyle/>
          <a:p>
            <a:r>
              <a:rPr lang="en-US" dirty="0" err="1"/>
              <a:t>Dono</a:t>
            </a:r>
            <a:r>
              <a:rPr lang="en-US" dirty="0"/>
              <a:t> tables ka </a:t>
            </a:r>
            <a:r>
              <a:rPr lang="en-US" dirty="0" err="1"/>
              <a:t>ek</a:t>
            </a:r>
            <a:r>
              <a:rPr lang="en-US" dirty="0"/>
              <a:t> record </a:t>
            </a:r>
            <a:r>
              <a:rPr lang="en-US" dirty="0" err="1"/>
              <a:t>doosri</a:t>
            </a:r>
            <a:r>
              <a:rPr lang="en-US" dirty="0"/>
              <a:t> table </a:t>
            </a:r>
            <a:r>
              <a:rPr lang="en-US" dirty="0" err="1"/>
              <a:t>ke</a:t>
            </a:r>
            <a:r>
              <a:rPr lang="en-US" dirty="0"/>
              <a:t> multiple records se related ho </a:t>
            </a:r>
            <a:r>
              <a:rPr lang="en-US" dirty="0" err="1"/>
              <a:t>sakta</a:t>
            </a:r>
            <a:r>
              <a:rPr lang="en-US" dirty="0"/>
              <a:t> </a:t>
            </a:r>
            <a:r>
              <a:rPr lang="en-US" dirty="0" err="1"/>
              <a:t>hai</a:t>
            </a:r>
            <a:r>
              <a:rPr lang="en-US" dirty="0"/>
              <a:t>.</a:t>
            </a:r>
          </a:p>
        </p:txBody>
      </p:sp>
    </p:spTree>
    <p:extLst>
      <p:ext uri="{BB962C8B-B14F-4D97-AF65-F5344CB8AC3E}">
        <p14:creationId xmlns:p14="http://schemas.microsoft.com/office/powerpoint/2010/main" val="2644716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3168A-EB62-4C8A-8F4D-C1664B889A9B}"/>
              </a:ext>
            </a:extLst>
          </p:cNvPr>
          <p:cNvSpPr>
            <a:spLocks noGrp="1"/>
          </p:cNvSpPr>
          <p:nvPr>
            <p:ph type="title"/>
          </p:nvPr>
        </p:nvSpPr>
        <p:spPr>
          <a:xfrm>
            <a:off x="838200" y="365125"/>
            <a:ext cx="10515600" cy="534837"/>
          </a:xfrm>
        </p:spPr>
        <p:txBody>
          <a:bodyPr>
            <a:normAutofit fontScale="90000"/>
          </a:bodyPr>
          <a:lstStyle/>
          <a:p>
            <a:r>
              <a:rPr lang="en-US" b="1" dirty="0">
                <a:solidFill>
                  <a:srgbClr val="FF0000"/>
                </a:solidFill>
              </a:rPr>
              <a:t>Date change </a:t>
            </a:r>
          </a:p>
        </p:txBody>
      </p:sp>
      <p:sp>
        <p:nvSpPr>
          <p:cNvPr id="3" name="Content Placeholder 2">
            <a:extLst>
              <a:ext uri="{FF2B5EF4-FFF2-40B4-BE49-F238E27FC236}">
                <a16:creationId xmlns:a16="http://schemas.microsoft.com/office/drawing/2014/main" id="{C7931991-5750-4FDB-BEB4-F742ECC5A66D}"/>
              </a:ext>
            </a:extLst>
          </p:cNvPr>
          <p:cNvSpPr>
            <a:spLocks noGrp="1"/>
          </p:cNvSpPr>
          <p:nvPr>
            <p:ph idx="1"/>
          </p:nvPr>
        </p:nvSpPr>
        <p:spPr>
          <a:xfrm>
            <a:off x="880712" y="899962"/>
            <a:ext cx="10473088" cy="5277001"/>
          </a:xfrm>
        </p:spPr>
        <p:txBody>
          <a:bodyPr/>
          <a:lstStyle/>
          <a:p>
            <a:r>
              <a:rPr lang="en-US" dirty="0"/>
              <a:t>order</a:t>
            </a:r>
          </a:p>
        </p:txBody>
      </p:sp>
      <p:pic>
        <p:nvPicPr>
          <p:cNvPr id="5" name="Picture 4">
            <a:extLst>
              <a:ext uri="{FF2B5EF4-FFF2-40B4-BE49-F238E27FC236}">
                <a16:creationId xmlns:a16="http://schemas.microsoft.com/office/drawing/2014/main" id="{8575F7C6-2701-4388-AB14-4F609CEA62FF}"/>
              </a:ext>
            </a:extLst>
          </p:cNvPr>
          <p:cNvPicPr>
            <a:picLocks noChangeAspect="1"/>
          </p:cNvPicPr>
          <p:nvPr/>
        </p:nvPicPr>
        <p:blipFill>
          <a:blip r:embed="rId2"/>
          <a:stretch>
            <a:fillRect/>
          </a:stretch>
        </p:blipFill>
        <p:spPr>
          <a:xfrm>
            <a:off x="4687199" y="632543"/>
            <a:ext cx="3292144" cy="6058146"/>
          </a:xfrm>
          <a:prstGeom prst="rect">
            <a:avLst/>
          </a:prstGeom>
        </p:spPr>
      </p:pic>
    </p:spTree>
    <p:extLst>
      <p:ext uri="{BB962C8B-B14F-4D97-AF65-F5344CB8AC3E}">
        <p14:creationId xmlns:p14="http://schemas.microsoft.com/office/powerpoint/2010/main" val="80934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8479-AC36-48D6-8E14-63F2C3108585}"/>
              </a:ext>
            </a:extLst>
          </p:cNvPr>
          <p:cNvSpPr>
            <a:spLocks noGrp="1"/>
          </p:cNvSpPr>
          <p:nvPr>
            <p:ph type="title"/>
          </p:nvPr>
        </p:nvSpPr>
        <p:spPr>
          <a:xfrm>
            <a:off x="838200" y="365125"/>
            <a:ext cx="10515600" cy="640715"/>
          </a:xfrm>
        </p:spPr>
        <p:txBody>
          <a:bodyPr>
            <a:normAutofit fontScale="90000"/>
          </a:bodyPr>
          <a:lstStyle/>
          <a:p>
            <a:r>
              <a:rPr lang="en-US" b="1" dirty="0">
                <a:solidFill>
                  <a:srgbClr val="FF0000"/>
                </a:solidFill>
              </a:rPr>
              <a:t>Sum of </a:t>
            </a:r>
            <a:r>
              <a:rPr lang="en-US" b="1" dirty="0" err="1">
                <a:solidFill>
                  <a:srgbClr val="FF0000"/>
                </a:solidFill>
              </a:rPr>
              <a:t>profilt</a:t>
            </a:r>
            <a:endParaRPr lang="en-US" b="1" dirty="0">
              <a:solidFill>
                <a:srgbClr val="FF0000"/>
              </a:solidFill>
            </a:endParaRPr>
          </a:p>
        </p:txBody>
      </p:sp>
      <p:pic>
        <p:nvPicPr>
          <p:cNvPr id="5" name="Content Placeholder 4">
            <a:extLst>
              <a:ext uri="{FF2B5EF4-FFF2-40B4-BE49-F238E27FC236}">
                <a16:creationId xmlns:a16="http://schemas.microsoft.com/office/drawing/2014/main" id="{78EA7E25-4C59-4AE5-86CE-4A11D4C76963}"/>
              </a:ext>
            </a:extLst>
          </p:cNvPr>
          <p:cNvPicPr>
            <a:picLocks noGrp="1" noChangeAspect="1"/>
          </p:cNvPicPr>
          <p:nvPr>
            <p:ph idx="1"/>
          </p:nvPr>
        </p:nvPicPr>
        <p:blipFill>
          <a:blip r:embed="rId2"/>
          <a:stretch>
            <a:fillRect/>
          </a:stretch>
        </p:blipFill>
        <p:spPr>
          <a:xfrm>
            <a:off x="660980" y="842343"/>
            <a:ext cx="10557264" cy="5612882"/>
          </a:xfrm>
        </p:spPr>
      </p:pic>
    </p:spTree>
    <p:extLst>
      <p:ext uri="{BB962C8B-B14F-4D97-AF65-F5344CB8AC3E}">
        <p14:creationId xmlns:p14="http://schemas.microsoft.com/office/powerpoint/2010/main" val="699480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DB683-8BE0-4D0E-AECE-68470FED232D}"/>
              </a:ext>
            </a:extLst>
          </p:cNvPr>
          <p:cNvSpPr>
            <a:spLocks noGrp="1"/>
          </p:cNvSpPr>
          <p:nvPr>
            <p:ph type="title"/>
          </p:nvPr>
        </p:nvSpPr>
        <p:spPr>
          <a:xfrm>
            <a:off x="838200" y="365125"/>
            <a:ext cx="10515600" cy="626277"/>
          </a:xfrm>
        </p:spPr>
        <p:txBody>
          <a:bodyPr>
            <a:normAutofit fontScale="90000"/>
          </a:bodyPr>
          <a:lstStyle/>
          <a:p>
            <a:r>
              <a:rPr lang="en-US" b="1" dirty="0">
                <a:solidFill>
                  <a:srgbClr val="FF0000"/>
                </a:solidFill>
              </a:rPr>
              <a:t>Sum of profit by sub-category</a:t>
            </a:r>
          </a:p>
        </p:txBody>
      </p:sp>
      <p:pic>
        <p:nvPicPr>
          <p:cNvPr id="5" name="Content Placeholder 4">
            <a:extLst>
              <a:ext uri="{FF2B5EF4-FFF2-40B4-BE49-F238E27FC236}">
                <a16:creationId xmlns:a16="http://schemas.microsoft.com/office/drawing/2014/main" id="{C2F1B73B-15C2-4905-B75B-562E49E58722}"/>
              </a:ext>
            </a:extLst>
          </p:cNvPr>
          <p:cNvPicPr>
            <a:picLocks noGrp="1" noChangeAspect="1"/>
          </p:cNvPicPr>
          <p:nvPr>
            <p:ph idx="1"/>
          </p:nvPr>
        </p:nvPicPr>
        <p:blipFill>
          <a:blip r:embed="rId2"/>
          <a:stretch>
            <a:fillRect/>
          </a:stretch>
        </p:blipFill>
        <p:spPr>
          <a:xfrm>
            <a:off x="636287" y="1451722"/>
            <a:ext cx="5509535" cy="3076964"/>
          </a:xfrm>
        </p:spPr>
      </p:pic>
      <p:pic>
        <p:nvPicPr>
          <p:cNvPr id="7" name="Picture 6">
            <a:extLst>
              <a:ext uri="{FF2B5EF4-FFF2-40B4-BE49-F238E27FC236}">
                <a16:creationId xmlns:a16="http://schemas.microsoft.com/office/drawing/2014/main" id="{2E46777C-AE38-4EDA-A488-F1FEB4611FD0}"/>
              </a:ext>
            </a:extLst>
          </p:cNvPr>
          <p:cNvPicPr>
            <a:picLocks noChangeAspect="1"/>
          </p:cNvPicPr>
          <p:nvPr/>
        </p:nvPicPr>
        <p:blipFill>
          <a:blip r:embed="rId3"/>
          <a:stretch>
            <a:fillRect/>
          </a:stretch>
        </p:blipFill>
        <p:spPr>
          <a:xfrm>
            <a:off x="6315139" y="1348813"/>
            <a:ext cx="2530477" cy="3282782"/>
          </a:xfrm>
          <a:prstGeom prst="rect">
            <a:avLst/>
          </a:prstGeom>
        </p:spPr>
      </p:pic>
      <p:pic>
        <p:nvPicPr>
          <p:cNvPr id="9" name="Picture 8">
            <a:extLst>
              <a:ext uri="{FF2B5EF4-FFF2-40B4-BE49-F238E27FC236}">
                <a16:creationId xmlns:a16="http://schemas.microsoft.com/office/drawing/2014/main" id="{41591DD2-CF6B-44FD-B89F-4A38F2B6216A}"/>
              </a:ext>
            </a:extLst>
          </p:cNvPr>
          <p:cNvPicPr>
            <a:picLocks noChangeAspect="1"/>
          </p:cNvPicPr>
          <p:nvPr/>
        </p:nvPicPr>
        <p:blipFill>
          <a:blip r:embed="rId4"/>
          <a:stretch>
            <a:fillRect/>
          </a:stretch>
        </p:blipFill>
        <p:spPr>
          <a:xfrm>
            <a:off x="8954506" y="365125"/>
            <a:ext cx="3187283" cy="4081070"/>
          </a:xfrm>
          <a:prstGeom prst="rect">
            <a:avLst/>
          </a:prstGeom>
        </p:spPr>
      </p:pic>
    </p:spTree>
    <p:extLst>
      <p:ext uri="{BB962C8B-B14F-4D97-AF65-F5344CB8AC3E}">
        <p14:creationId xmlns:p14="http://schemas.microsoft.com/office/powerpoint/2010/main" val="3622619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1536</Words>
  <Application>Microsoft Office PowerPoint</Application>
  <PresentationFormat>Widescreen</PresentationFormat>
  <Paragraphs>194</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Roboto</vt:lpstr>
      <vt:lpstr>Office Theme</vt:lpstr>
      <vt:lpstr>Power Bi</vt:lpstr>
      <vt:lpstr>Power bi</vt:lpstr>
      <vt:lpstr>PowerPoint Presentation</vt:lpstr>
      <vt:lpstr>Power BI kya hai?</vt:lpstr>
      <vt:lpstr>Power BI kin-kin data sources se connect ho sakta hai?</vt:lpstr>
      <vt:lpstr>Power BI ke main components kaun se hain?</vt:lpstr>
      <vt:lpstr>Power BI ke benefits kya hain?</vt:lpstr>
      <vt:lpstr>Power BI aur Excel me kya difference hai?</vt:lpstr>
      <vt:lpstr>Project Start (Import Data)</vt:lpstr>
      <vt:lpstr>1. Power Query → Data Cleaning &amp; Transformation ke liye </vt:lpstr>
      <vt:lpstr>2. Power Pivot → Data Modeling &amp; Calculations ke liye</vt:lpstr>
      <vt:lpstr>Power View &amp; Power Map → Data Visualization ke liye</vt:lpstr>
      <vt:lpstr>4. Power BI Service → Reports ko Publish &amp; Share karne ke liye</vt:lpstr>
      <vt:lpstr>PowerPoint Presentation</vt:lpstr>
      <vt:lpstr>Power BI</vt:lpstr>
      <vt:lpstr>Ribbonरिबन चार्ट </vt:lpstr>
      <vt:lpstr>Power BI Dashboard Project</vt:lpstr>
      <vt:lpstr>Null Value check</vt:lpstr>
      <vt:lpstr>Table view (Data type dekhna ho)   New col add karn a (text =[amount]*[qty])</vt:lpstr>
      <vt:lpstr>Model View</vt:lpstr>
      <vt:lpstr>1. One-to-One (1 : 1)</vt:lpstr>
      <vt:lpstr>2. One-to-Many (1 : *)</vt:lpstr>
      <vt:lpstr>3. Many-to-One (* : 1)</vt:lpstr>
      <vt:lpstr>4. Many-to-Many (* : *)</vt:lpstr>
      <vt:lpstr>Bas ye 4 line yaad kar lo</vt:lpstr>
      <vt:lpstr>Many-to-One (* : 1) kya hota hai? </vt:lpstr>
      <vt:lpstr>PowerPoint Presentation</vt:lpstr>
      <vt:lpstr>PowerPoint Presentation</vt:lpstr>
      <vt:lpstr>One-to-One (1 : 1) kya hota hai? </vt:lpstr>
      <vt:lpstr>One-to-Many (1 : *) </vt:lpstr>
      <vt:lpstr>Many-to-Many (* : *)</vt:lpstr>
      <vt:lpstr>Date change </vt:lpstr>
      <vt:lpstr>Sum of profilt</vt:lpstr>
      <vt:lpstr>Sum of profit by sub-category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dc:title>
  <dc:creator>pninfosys comapny</dc:creator>
  <cp:lastModifiedBy>pninfosys comapny</cp:lastModifiedBy>
  <cp:revision>53</cp:revision>
  <dcterms:created xsi:type="dcterms:W3CDTF">2026-09-12T05:23:48Z</dcterms:created>
  <dcterms:modified xsi:type="dcterms:W3CDTF">2026-10-01T10:35:51Z</dcterms:modified>
</cp:coreProperties>
</file>